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5" r:id="rId1"/>
  </p:sldMasterIdLst>
  <p:notesMasterIdLst>
    <p:notesMasterId r:id="rId12"/>
  </p:notesMasterIdLst>
  <p:sldIdLst>
    <p:sldId id="257" r:id="rId2"/>
    <p:sldId id="261" r:id="rId3"/>
    <p:sldId id="258" r:id="rId4"/>
    <p:sldId id="259" r:id="rId5"/>
    <p:sldId id="260" r:id="rId6"/>
    <p:sldId id="262" r:id="rId7"/>
    <p:sldId id="265" r:id="rId8"/>
    <p:sldId id="266" r:id="rId9"/>
    <p:sldId id="267" r:id="rId10"/>
    <p:sldId id="26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ansi chinthaginjala" userId="b8ba39833fd108c0" providerId="LiveId" clId="{47BA8085-BCBF-4D92-AB5B-3503FB8754C0}"/>
    <pc:docChg chg="custSel modSld">
      <pc:chgData name="jhansi chinthaginjala" userId="b8ba39833fd108c0" providerId="LiveId" clId="{47BA8085-BCBF-4D92-AB5B-3503FB8754C0}" dt="2025-09-12T06:49:32.622" v="53" actId="207"/>
      <pc:docMkLst>
        <pc:docMk/>
      </pc:docMkLst>
      <pc:sldChg chg="modSp mod">
        <pc:chgData name="jhansi chinthaginjala" userId="b8ba39833fd108c0" providerId="LiveId" clId="{47BA8085-BCBF-4D92-AB5B-3503FB8754C0}" dt="2025-09-12T06:46:09.180" v="52" actId="20577"/>
        <pc:sldMkLst>
          <pc:docMk/>
          <pc:sldMk cId="0" sldId="257"/>
        </pc:sldMkLst>
        <pc:spChg chg="mod">
          <ac:chgData name="jhansi chinthaginjala" userId="b8ba39833fd108c0" providerId="LiveId" clId="{47BA8085-BCBF-4D92-AB5B-3503FB8754C0}" dt="2025-09-12T06:46:09.180" v="52" actId="20577"/>
          <ac:spMkLst>
            <pc:docMk/>
            <pc:sldMk cId="0" sldId="257"/>
            <ac:spMk id="5" creationId="{00000000-0000-0000-0000-000000000000}"/>
          </ac:spMkLst>
        </pc:spChg>
        <pc:spChg chg="mod">
          <ac:chgData name="jhansi chinthaginjala" userId="b8ba39833fd108c0" providerId="LiveId" clId="{47BA8085-BCBF-4D92-AB5B-3503FB8754C0}" dt="2025-09-12T06:45:14.616" v="34" actId="207"/>
          <ac:spMkLst>
            <pc:docMk/>
            <pc:sldMk cId="0" sldId="257"/>
            <ac:spMk id="6" creationId="{00000000-0000-0000-0000-000000000000}"/>
          </ac:spMkLst>
        </pc:spChg>
        <pc:graphicFrameChg chg="mod">
          <ac:chgData name="jhansi chinthaginjala" userId="b8ba39833fd108c0" providerId="LiveId" clId="{47BA8085-BCBF-4D92-AB5B-3503FB8754C0}" dt="2025-09-09T06:05:35.076" v="0"/>
          <ac:graphicFrameMkLst>
            <pc:docMk/>
            <pc:sldMk cId="0" sldId="257"/>
            <ac:graphicFrameMk id="4" creationId="{00000000-0000-0000-0000-000000000000}"/>
          </ac:graphicFrameMkLst>
        </pc:graphicFrameChg>
      </pc:sldChg>
      <pc:sldChg chg="modSp mod">
        <pc:chgData name="jhansi chinthaginjala" userId="b8ba39833fd108c0" providerId="LiveId" clId="{47BA8085-BCBF-4D92-AB5B-3503FB8754C0}" dt="2025-09-09T06:06:46.678" v="8" actId="14100"/>
        <pc:sldMkLst>
          <pc:docMk/>
          <pc:sldMk cId="2333810695" sldId="258"/>
        </pc:sldMkLst>
        <pc:spChg chg="mod">
          <ac:chgData name="jhansi chinthaginjala" userId="b8ba39833fd108c0" providerId="LiveId" clId="{47BA8085-BCBF-4D92-AB5B-3503FB8754C0}" dt="2025-09-09T06:06:46.678" v="8" actId="14100"/>
          <ac:spMkLst>
            <pc:docMk/>
            <pc:sldMk cId="2333810695" sldId="258"/>
            <ac:spMk id="2" creationId="{59997A37-CE25-D318-E3B9-D9E1EA59A099}"/>
          </ac:spMkLst>
        </pc:spChg>
      </pc:sldChg>
      <pc:sldChg chg="modSp mod">
        <pc:chgData name="jhansi chinthaginjala" userId="b8ba39833fd108c0" providerId="LiveId" clId="{47BA8085-BCBF-4D92-AB5B-3503FB8754C0}" dt="2025-09-09T06:06:36.319" v="7" actId="14100"/>
        <pc:sldMkLst>
          <pc:docMk/>
          <pc:sldMk cId="2328366364" sldId="259"/>
        </pc:sldMkLst>
        <pc:spChg chg="mod">
          <ac:chgData name="jhansi chinthaginjala" userId="b8ba39833fd108c0" providerId="LiveId" clId="{47BA8085-BCBF-4D92-AB5B-3503FB8754C0}" dt="2025-09-09T06:06:36.319" v="7" actId="14100"/>
          <ac:spMkLst>
            <pc:docMk/>
            <pc:sldMk cId="2328366364" sldId="259"/>
            <ac:spMk id="2" creationId="{5A431996-8236-57A6-6B01-18CD82DF4A1B}"/>
          </ac:spMkLst>
        </pc:spChg>
      </pc:sldChg>
      <pc:sldChg chg="modSp mod">
        <pc:chgData name="jhansi chinthaginjala" userId="b8ba39833fd108c0" providerId="LiveId" clId="{47BA8085-BCBF-4D92-AB5B-3503FB8754C0}" dt="2025-09-09T06:10:30.682" v="31" actId="14100"/>
        <pc:sldMkLst>
          <pc:docMk/>
          <pc:sldMk cId="761869834" sldId="260"/>
        </pc:sldMkLst>
        <pc:spChg chg="mod">
          <ac:chgData name="jhansi chinthaginjala" userId="b8ba39833fd108c0" providerId="LiveId" clId="{47BA8085-BCBF-4D92-AB5B-3503FB8754C0}" dt="2025-09-09T06:10:30.682" v="31" actId="14100"/>
          <ac:spMkLst>
            <pc:docMk/>
            <pc:sldMk cId="761869834" sldId="260"/>
            <ac:spMk id="2" creationId="{482CF2DF-2219-AD1B-6239-84B0616BCBD5}"/>
          </ac:spMkLst>
        </pc:spChg>
      </pc:sldChg>
      <pc:sldChg chg="modSp mod">
        <pc:chgData name="jhansi chinthaginjala" userId="b8ba39833fd108c0" providerId="LiveId" clId="{47BA8085-BCBF-4D92-AB5B-3503FB8754C0}" dt="2025-09-09T06:10:43.625" v="32" actId="207"/>
        <pc:sldMkLst>
          <pc:docMk/>
          <pc:sldMk cId="720168788" sldId="261"/>
        </pc:sldMkLst>
        <pc:spChg chg="mod">
          <ac:chgData name="jhansi chinthaginjala" userId="b8ba39833fd108c0" providerId="LiveId" clId="{47BA8085-BCBF-4D92-AB5B-3503FB8754C0}" dt="2025-09-09T06:10:43.625" v="32" actId="207"/>
          <ac:spMkLst>
            <pc:docMk/>
            <pc:sldMk cId="720168788" sldId="261"/>
            <ac:spMk id="2" creationId="{CAC3A50F-7285-AAA3-1E87-4CB16E53B1BE}"/>
          </ac:spMkLst>
        </pc:spChg>
        <pc:spChg chg="mod">
          <ac:chgData name="jhansi chinthaginjala" userId="b8ba39833fd108c0" providerId="LiveId" clId="{47BA8085-BCBF-4D92-AB5B-3503FB8754C0}" dt="2025-09-09T06:07:21.033" v="15" actId="14100"/>
          <ac:spMkLst>
            <pc:docMk/>
            <pc:sldMk cId="720168788" sldId="261"/>
            <ac:spMk id="3" creationId="{222D37F7-4B42-64B8-A0B3-C5257C6CB6DE}"/>
          </ac:spMkLst>
        </pc:spChg>
      </pc:sldChg>
      <pc:sldChg chg="modSp mod">
        <pc:chgData name="jhansi chinthaginjala" userId="b8ba39833fd108c0" providerId="LiveId" clId="{47BA8085-BCBF-4D92-AB5B-3503FB8754C0}" dt="2025-09-09T06:09:58.849" v="28" actId="20577"/>
        <pc:sldMkLst>
          <pc:docMk/>
          <pc:sldMk cId="20476847" sldId="262"/>
        </pc:sldMkLst>
        <pc:spChg chg="mod">
          <ac:chgData name="jhansi chinthaginjala" userId="b8ba39833fd108c0" providerId="LiveId" clId="{47BA8085-BCBF-4D92-AB5B-3503FB8754C0}" dt="2025-09-09T06:09:58.849" v="28" actId="20577"/>
          <ac:spMkLst>
            <pc:docMk/>
            <pc:sldMk cId="20476847" sldId="262"/>
            <ac:spMk id="2" creationId="{CC720A5A-743E-6743-0DC7-31C014E28E99}"/>
          </ac:spMkLst>
        </pc:spChg>
      </pc:sldChg>
      <pc:sldChg chg="modSp mod">
        <pc:chgData name="jhansi chinthaginjala" userId="b8ba39833fd108c0" providerId="LiveId" clId="{47BA8085-BCBF-4D92-AB5B-3503FB8754C0}" dt="2025-09-09T06:09:40.575" v="24" actId="14100"/>
        <pc:sldMkLst>
          <pc:docMk/>
          <pc:sldMk cId="2263175212" sldId="265"/>
        </pc:sldMkLst>
        <pc:spChg chg="mod">
          <ac:chgData name="jhansi chinthaginjala" userId="b8ba39833fd108c0" providerId="LiveId" clId="{47BA8085-BCBF-4D92-AB5B-3503FB8754C0}" dt="2025-09-09T06:09:40.575" v="24" actId="14100"/>
          <ac:spMkLst>
            <pc:docMk/>
            <pc:sldMk cId="2263175212" sldId="265"/>
            <ac:spMk id="2" creationId="{3AE2352D-5AE8-98D3-873B-A0330521E6AC}"/>
          </ac:spMkLst>
        </pc:spChg>
        <pc:spChg chg="mod">
          <ac:chgData name="jhansi chinthaginjala" userId="b8ba39833fd108c0" providerId="LiveId" clId="{47BA8085-BCBF-4D92-AB5B-3503FB8754C0}" dt="2025-09-09T06:06:21.483" v="6" actId="14100"/>
          <ac:spMkLst>
            <pc:docMk/>
            <pc:sldMk cId="2263175212" sldId="265"/>
            <ac:spMk id="3" creationId="{803592D6-BA2D-33C4-780D-5443ADCC3922}"/>
          </ac:spMkLst>
        </pc:spChg>
      </pc:sldChg>
      <pc:sldChg chg="modSp mod">
        <pc:chgData name="jhansi chinthaginjala" userId="b8ba39833fd108c0" providerId="LiveId" clId="{47BA8085-BCBF-4D92-AB5B-3503FB8754C0}" dt="2025-09-12T06:49:32.622" v="53" actId="207"/>
        <pc:sldMkLst>
          <pc:docMk/>
          <pc:sldMk cId="3174497138" sldId="266"/>
        </pc:sldMkLst>
        <pc:spChg chg="mod">
          <ac:chgData name="jhansi chinthaginjala" userId="b8ba39833fd108c0" providerId="LiveId" clId="{47BA8085-BCBF-4D92-AB5B-3503FB8754C0}" dt="2025-09-12T06:49:32.622" v="53" actId="207"/>
          <ac:spMkLst>
            <pc:docMk/>
            <pc:sldMk cId="3174497138" sldId="266"/>
            <ac:spMk id="2" creationId="{D41BBF1A-16BE-C00E-D415-AD827B1E5DFC}"/>
          </ac:spMkLst>
        </pc:spChg>
        <pc:spChg chg="mod">
          <ac:chgData name="jhansi chinthaginjala" userId="b8ba39833fd108c0" providerId="LiveId" clId="{47BA8085-BCBF-4D92-AB5B-3503FB8754C0}" dt="2025-09-09T06:05:35.234" v="3" actId="27636"/>
          <ac:spMkLst>
            <pc:docMk/>
            <pc:sldMk cId="3174497138" sldId="266"/>
            <ac:spMk id="3" creationId="{3D92EDBD-96C4-A6C5-E180-4A044FE73094}"/>
          </ac:spMkLst>
        </pc:spChg>
      </pc:sldChg>
      <pc:sldChg chg="modSp mod">
        <pc:chgData name="jhansi chinthaginjala" userId="b8ba39833fd108c0" providerId="LiveId" clId="{47BA8085-BCBF-4D92-AB5B-3503FB8754C0}" dt="2025-09-09T06:09:03.420" v="18" actId="207"/>
        <pc:sldMkLst>
          <pc:docMk/>
          <pc:sldMk cId="1370465206" sldId="267"/>
        </pc:sldMkLst>
        <pc:spChg chg="mod">
          <ac:chgData name="jhansi chinthaginjala" userId="b8ba39833fd108c0" providerId="LiveId" clId="{47BA8085-BCBF-4D92-AB5B-3503FB8754C0}" dt="2025-09-09T06:09:03.420" v="18" actId="207"/>
          <ac:spMkLst>
            <pc:docMk/>
            <pc:sldMk cId="1370465206" sldId="267"/>
            <ac:spMk id="2" creationId="{FA1930F6-2E6F-68F8-6E60-F9ED68C827A4}"/>
          </ac:spMkLst>
        </pc:spChg>
      </pc:sldChg>
      <pc:sldChg chg="modSp mod">
        <pc:chgData name="jhansi chinthaginjala" userId="b8ba39833fd108c0" providerId="LiveId" clId="{47BA8085-BCBF-4D92-AB5B-3503FB8754C0}" dt="2025-09-09T06:08:34.538" v="16" actId="207"/>
        <pc:sldMkLst>
          <pc:docMk/>
          <pc:sldMk cId="3169691899" sldId="269"/>
        </pc:sldMkLst>
        <pc:spChg chg="mod">
          <ac:chgData name="jhansi chinthaginjala" userId="b8ba39833fd108c0" providerId="LiveId" clId="{47BA8085-BCBF-4D92-AB5B-3503FB8754C0}" dt="2025-09-09T06:08:34.538" v="16" actId="207"/>
          <ac:spMkLst>
            <pc:docMk/>
            <pc:sldMk cId="3169691899" sldId="269"/>
            <ac:spMk id="2" creationId="{24FD2B9B-0217-04C6-9183-485DF9D2E5A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A6534-6453-4CCA-AD59-4385C4EBA13A}" type="datetimeFigureOut">
              <a:rPr lang="en-IN" smtClean="0"/>
              <a:t>12-09-2025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815EF8-9F17-4BC0-812F-048DA9A2B0B5}" type="slidenum">
              <a:rPr lang="en-IN" smtClean="0"/>
              <a:t>‹#›</a:t>
            </a:fld>
            <a:endParaRPr lang="en-IN"/>
          </a:p>
        </p:txBody>
      </p:sp>
    </p:spTree>
    <p:extLst>
      <p:ext uri="{BB962C8B-B14F-4D97-AF65-F5344CB8AC3E}">
        <p14:creationId xmlns:p14="http://schemas.microsoft.com/office/powerpoint/2010/main" val="1186856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815EF8-9F17-4BC0-812F-048DA9A2B0B5}" type="slidenum">
              <a:rPr lang="en-IN" smtClean="0"/>
              <a:t>7</a:t>
            </a:fld>
            <a:endParaRPr lang="en-IN"/>
          </a:p>
        </p:txBody>
      </p:sp>
    </p:spTree>
    <p:extLst>
      <p:ext uri="{BB962C8B-B14F-4D97-AF65-F5344CB8AC3E}">
        <p14:creationId xmlns:p14="http://schemas.microsoft.com/office/powerpoint/2010/main" val="2357338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815EF8-9F17-4BC0-812F-048DA9A2B0B5}" type="slidenum">
              <a:rPr lang="en-IN" smtClean="0"/>
              <a:t>8</a:t>
            </a:fld>
            <a:endParaRPr lang="en-IN"/>
          </a:p>
        </p:txBody>
      </p:sp>
    </p:spTree>
    <p:extLst>
      <p:ext uri="{BB962C8B-B14F-4D97-AF65-F5344CB8AC3E}">
        <p14:creationId xmlns:p14="http://schemas.microsoft.com/office/powerpoint/2010/main" val="1039756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815EF8-9F17-4BC0-812F-048DA9A2B0B5}" type="slidenum">
              <a:rPr lang="en-IN" smtClean="0"/>
              <a:t>10</a:t>
            </a:fld>
            <a:endParaRPr lang="en-IN"/>
          </a:p>
        </p:txBody>
      </p:sp>
    </p:spTree>
    <p:extLst>
      <p:ext uri="{BB962C8B-B14F-4D97-AF65-F5344CB8AC3E}">
        <p14:creationId xmlns:p14="http://schemas.microsoft.com/office/powerpoint/2010/main" val="3222991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C9C779D-B8E5-4B52-A960-C5BC961FE4F1}"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2408430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9C779D-B8E5-4B52-A960-C5BC961FE4F1}"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4023543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9C779D-B8E5-4B52-A960-C5BC961FE4F1}"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3490198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9C779D-B8E5-4B52-A960-C5BC961FE4F1}" type="datetimeFigureOut">
              <a:rPr lang="en-IN" smtClean="0"/>
              <a:t>12-09-2025</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756511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9C779D-B8E5-4B52-A960-C5BC961FE4F1}" type="datetimeFigureOut">
              <a:rPr lang="en-IN" smtClean="0"/>
              <a:t>12-09-2025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3940815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9C779D-B8E5-4B52-A960-C5BC961FE4F1}" type="datetimeFigureOut">
              <a:rPr lang="en-IN" smtClean="0"/>
              <a:t>12-09-2025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446639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9C779D-B8E5-4B52-A960-C5BC961FE4F1}" type="datetimeFigureOut">
              <a:rPr lang="en-IN" smtClean="0"/>
              <a:t>12-09-2025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1015726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9C779D-B8E5-4B52-A960-C5BC961FE4F1}" type="datetimeFigureOut">
              <a:rPr lang="en-IN" smtClean="0"/>
              <a:t>12-09-2025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2654729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9C779D-B8E5-4B52-A960-C5BC961FE4F1}" type="datetimeFigureOut">
              <a:rPr lang="en-IN" smtClean="0"/>
              <a:t>12-09-2025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1503127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9C779D-B8E5-4B52-A960-C5BC961FE4F1}"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242828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9C779D-B8E5-4B52-A960-C5BC961FE4F1}"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EEBFDB2-DB2A-4667-883C-1AE1AD8295F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6325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C9C779D-B8E5-4B52-A960-C5BC961FE4F1}" type="datetimeFigureOut">
              <a:rPr lang="en-IN" smtClean="0"/>
              <a:t>12-09-2025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870326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C9C779D-B8E5-4B52-A960-C5BC961FE4F1}" type="datetimeFigureOut">
              <a:rPr lang="en-IN" smtClean="0"/>
              <a:t>12-09-2025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EEBFDB2-DB2A-4667-883C-1AE1AD8295F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13898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C9C779D-B8E5-4B52-A960-C5BC961FE4F1}" type="datetimeFigureOut">
              <a:rPr lang="en-IN" smtClean="0"/>
              <a:t>12-09-2025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4057690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9C779D-B8E5-4B52-A960-C5BC961FE4F1}"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1177490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9C779D-B8E5-4B52-A960-C5BC961FE4F1}" type="datetimeFigureOut">
              <a:rPr lang="en-IN" smtClean="0"/>
              <a:t>12-09-2025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EEBFDB2-DB2A-4667-883C-1AE1AD8295FC}" type="slidenum">
              <a:rPr lang="en-IN" smtClean="0"/>
              <a:t>‹#›</a:t>
            </a:fld>
            <a:endParaRPr lang="en-IN"/>
          </a:p>
        </p:txBody>
      </p:sp>
    </p:spTree>
    <p:extLst>
      <p:ext uri="{BB962C8B-B14F-4D97-AF65-F5344CB8AC3E}">
        <p14:creationId xmlns:p14="http://schemas.microsoft.com/office/powerpoint/2010/main" val="3151953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C9C779D-B8E5-4B52-A960-C5BC961FE4F1}" type="datetimeFigureOut">
              <a:rPr lang="en-IN" smtClean="0"/>
              <a:t>12-09-2025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EEBFDB2-DB2A-4667-883C-1AE1AD8295FC}" type="slidenum">
              <a:rPr lang="en-IN" smtClean="0"/>
              <a:t>‹#›</a:t>
            </a:fld>
            <a:endParaRPr lang="en-IN"/>
          </a:p>
        </p:txBody>
      </p:sp>
    </p:spTree>
    <p:extLst>
      <p:ext uri="{BB962C8B-B14F-4D97-AF65-F5344CB8AC3E}">
        <p14:creationId xmlns:p14="http://schemas.microsoft.com/office/powerpoint/2010/main" val="1898749375"/>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 id="2147483998" r:id="rId13"/>
    <p:sldLayoutId id="2147483999" r:id="rId14"/>
    <p:sldLayoutId id="2147484000" r:id="rId15"/>
    <p:sldLayoutId id="2147484001"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68269" y="4331827"/>
            <a:ext cx="792880" cy="816554"/>
          </a:xfrm>
          <a:prstGeom prst="rect">
            <a:avLst/>
          </a:prstGeom>
        </p:spPr>
      </p:pic>
      <p:sp>
        <p:nvSpPr>
          <p:cNvPr id="3" name="object 3"/>
          <p:cNvSpPr txBox="1"/>
          <p:nvPr/>
        </p:nvSpPr>
        <p:spPr>
          <a:xfrm>
            <a:off x="2359742" y="487388"/>
            <a:ext cx="8160774" cy="1636065"/>
          </a:xfrm>
          <a:prstGeom prst="rect">
            <a:avLst/>
          </a:prstGeom>
        </p:spPr>
        <p:txBody>
          <a:bodyPr vert="horz" wrap="square" lIns="0" tIns="2135" rIns="0" bIns="0" rtlCol="0">
            <a:spAutoFit/>
          </a:bodyPr>
          <a:lstStyle/>
          <a:p>
            <a:pPr marL="321866" marR="80543" indent="-316069" algn="ctr">
              <a:lnSpc>
                <a:spcPct val="103000"/>
              </a:lnSpc>
              <a:spcBef>
                <a:spcPts val="17"/>
              </a:spcBef>
            </a:pPr>
            <a:r>
              <a:rPr lang="en-US" sz="1400" b="1" spc="-14" dirty="0">
                <a:solidFill>
                  <a:srgbClr val="C00000"/>
                </a:solidFill>
                <a:latin typeface="Times New Roman"/>
                <a:cs typeface="Times New Roman"/>
              </a:rPr>
              <a:t>MEDICUS – TRUSTED DRUG AND MEDICINE GUIDE</a:t>
            </a:r>
            <a:endParaRPr lang="en-US" sz="1400" dirty="0">
              <a:latin typeface="Times New Roman"/>
              <a:cs typeface="Times New Roman"/>
            </a:endParaRPr>
          </a:p>
          <a:p>
            <a:pPr marL="11898" algn="ctr">
              <a:lnSpc>
                <a:spcPts val="683"/>
              </a:lnSpc>
              <a:spcBef>
                <a:spcPts val="668"/>
              </a:spcBef>
            </a:pPr>
            <a:endParaRPr lang="en-US" sz="1400" b="1" dirty="0">
              <a:latin typeface="Times New Roman"/>
              <a:cs typeface="Times New Roman"/>
            </a:endParaRPr>
          </a:p>
          <a:p>
            <a:pPr marL="11898" algn="ctr">
              <a:lnSpc>
                <a:spcPts val="683"/>
              </a:lnSpc>
              <a:spcBef>
                <a:spcPts val="668"/>
              </a:spcBef>
            </a:pPr>
            <a:r>
              <a:rPr lang="en-US" sz="1600" b="1" dirty="0">
                <a:latin typeface="Times New Roman"/>
                <a:cs typeface="Times New Roman"/>
              </a:rPr>
              <a:t>Mini Project</a:t>
            </a:r>
            <a:r>
              <a:rPr lang="en-US" sz="1600" b="1" spc="-20" dirty="0">
                <a:latin typeface="Times New Roman"/>
                <a:cs typeface="Times New Roman"/>
              </a:rPr>
              <a:t> </a:t>
            </a:r>
            <a:endParaRPr lang="en-US" sz="1600" b="1" spc="-5" dirty="0">
              <a:latin typeface="Times New Roman"/>
              <a:cs typeface="Times New Roman"/>
            </a:endParaRPr>
          </a:p>
          <a:p>
            <a:pPr marL="11898" algn="ctr">
              <a:lnSpc>
                <a:spcPts val="683"/>
              </a:lnSpc>
              <a:spcBef>
                <a:spcPts val="668"/>
              </a:spcBef>
            </a:pPr>
            <a:endParaRPr sz="1400" dirty="0">
              <a:latin typeface="Times New Roman"/>
              <a:cs typeface="Times New Roman"/>
            </a:endParaRPr>
          </a:p>
          <a:p>
            <a:pPr marL="10678" algn="ctr">
              <a:lnSpc>
                <a:spcPts val="1035"/>
              </a:lnSpc>
              <a:spcBef>
                <a:spcPts val="605"/>
              </a:spcBef>
            </a:pPr>
            <a:r>
              <a:rPr sz="1400" b="1" dirty="0">
                <a:solidFill>
                  <a:srgbClr val="0E223C"/>
                </a:solidFill>
                <a:latin typeface="Times New Roman"/>
                <a:cs typeface="Times New Roman"/>
              </a:rPr>
              <a:t>BACHELOR</a:t>
            </a:r>
            <a:r>
              <a:rPr sz="1400" b="1" spc="-26" dirty="0">
                <a:solidFill>
                  <a:srgbClr val="0E223C"/>
                </a:solidFill>
                <a:latin typeface="Times New Roman"/>
                <a:cs typeface="Times New Roman"/>
              </a:rPr>
              <a:t> </a:t>
            </a:r>
            <a:r>
              <a:rPr sz="1400" b="1" dirty="0">
                <a:solidFill>
                  <a:srgbClr val="0E223C"/>
                </a:solidFill>
                <a:latin typeface="Times New Roman"/>
                <a:cs typeface="Times New Roman"/>
              </a:rPr>
              <a:t>OF</a:t>
            </a:r>
            <a:r>
              <a:rPr sz="1400" b="1" spc="-26" dirty="0">
                <a:solidFill>
                  <a:srgbClr val="0E223C"/>
                </a:solidFill>
                <a:latin typeface="Times New Roman"/>
                <a:cs typeface="Times New Roman"/>
              </a:rPr>
              <a:t> </a:t>
            </a:r>
            <a:r>
              <a:rPr sz="1400" b="1" spc="-5" dirty="0">
                <a:solidFill>
                  <a:srgbClr val="0E223C"/>
                </a:solidFill>
                <a:latin typeface="Times New Roman"/>
                <a:cs typeface="Times New Roman"/>
              </a:rPr>
              <a:t>TECHNOLOGY</a:t>
            </a:r>
            <a:endParaRPr sz="1400" dirty="0">
              <a:latin typeface="Times New Roman"/>
              <a:cs typeface="Times New Roman"/>
            </a:endParaRPr>
          </a:p>
          <a:p>
            <a:pPr marL="8237" algn="ctr">
              <a:lnSpc>
                <a:spcPts val="689"/>
              </a:lnSpc>
            </a:pPr>
            <a:endParaRPr lang="en-US" sz="1400" b="1" spc="-12" dirty="0">
              <a:solidFill>
                <a:srgbClr val="0000CC"/>
              </a:solidFill>
              <a:latin typeface="Times New Roman"/>
              <a:cs typeface="Times New Roman"/>
            </a:endParaRPr>
          </a:p>
          <a:p>
            <a:pPr marL="8237" algn="ctr">
              <a:lnSpc>
                <a:spcPts val="689"/>
              </a:lnSpc>
            </a:pPr>
            <a:r>
              <a:rPr sz="1400" b="1" spc="-12" dirty="0">
                <a:solidFill>
                  <a:srgbClr val="0000CC"/>
                </a:solidFill>
                <a:latin typeface="Times New Roman"/>
                <a:cs typeface="Times New Roman"/>
              </a:rPr>
              <a:t>in</a:t>
            </a:r>
            <a:endParaRPr sz="1400" dirty="0">
              <a:latin typeface="Times New Roman"/>
              <a:cs typeface="Times New Roman"/>
            </a:endParaRPr>
          </a:p>
          <a:p>
            <a:pPr marL="442679" marR="389594" algn="ctr">
              <a:lnSpc>
                <a:spcPct val="175600"/>
              </a:lnSpc>
              <a:spcBef>
                <a:spcPts val="10"/>
              </a:spcBef>
            </a:pPr>
            <a:r>
              <a:rPr sz="1400" b="1" spc="-5" dirty="0">
                <a:solidFill>
                  <a:srgbClr val="E16C09"/>
                </a:solidFill>
                <a:latin typeface="Times New Roman"/>
                <a:cs typeface="Times New Roman"/>
              </a:rPr>
              <a:t>COMPUTER</a:t>
            </a:r>
            <a:r>
              <a:rPr sz="1400" b="1" spc="-34" dirty="0">
                <a:solidFill>
                  <a:srgbClr val="E16C09"/>
                </a:solidFill>
                <a:latin typeface="Times New Roman"/>
                <a:cs typeface="Times New Roman"/>
              </a:rPr>
              <a:t> </a:t>
            </a:r>
            <a:r>
              <a:rPr sz="1400" b="1" spc="-5" dirty="0">
                <a:solidFill>
                  <a:srgbClr val="E16C09"/>
                </a:solidFill>
                <a:latin typeface="Times New Roman"/>
                <a:cs typeface="Times New Roman"/>
              </a:rPr>
              <a:t>SCIENCE</a:t>
            </a:r>
            <a:r>
              <a:rPr sz="1400" b="1" spc="-17" dirty="0">
                <a:solidFill>
                  <a:srgbClr val="E16C09"/>
                </a:solidFill>
                <a:latin typeface="Times New Roman"/>
                <a:cs typeface="Times New Roman"/>
              </a:rPr>
              <a:t> </a:t>
            </a:r>
            <a:r>
              <a:rPr sz="1400" b="1" spc="-10" dirty="0">
                <a:solidFill>
                  <a:srgbClr val="E16C09"/>
                </a:solidFill>
                <a:latin typeface="Times New Roman"/>
                <a:cs typeface="Times New Roman"/>
              </a:rPr>
              <a:t>AND</a:t>
            </a:r>
            <a:r>
              <a:rPr sz="1400" b="1" spc="-32" dirty="0">
                <a:solidFill>
                  <a:srgbClr val="E16C09"/>
                </a:solidFill>
                <a:latin typeface="Times New Roman"/>
                <a:cs typeface="Times New Roman"/>
              </a:rPr>
              <a:t> </a:t>
            </a:r>
            <a:r>
              <a:rPr sz="1400" b="1" spc="-5" dirty="0">
                <a:solidFill>
                  <a:srgbClr val="E16C09"/>
                </a:solidFill>
                <a:latin typeface="Times New Roman"/>
                <a:cs typeface="Times New Roman"/>
              </a:rPr>
              <a:t>ENGINEERING (DATA</a:t>
            </a:r>
            <a:r>
              <a:rPr sz="1400" b="1" spc="-20" dirty="0">
                <a:solidFill>
                  <a:srgbClr val="E16C09"/>
                </a:solidFill>
                <a:latin typeface="Times New Roman"/>
                <a:cs typeface="Times New Roman"/>
              </a:rPr>
              <a:t> </a:t>
            </a:r>
            <a:r>
              <a:rPr sz="1400" b="1" spc="-5" dirty="0">
                <a:solidFill>
                  <a:srgbClr val="E16C09"/>
                </a:solidFill>
                <a:latin typeface="Times New Roman"/>
                <a:cs typeface="Times New Roman"/>
              </a:rPr>
              <a:t>SCIENCE)</a:t>
            </a:r>
            <a:endParaRPr sz="1400" dirty="0">
              <a:latin typeface="Times New Roman"/>
              <a:cs typeface="Times New Roman"/>
            </a:endParaRPr>
          </a:p>
          <a:p>
            <a:pPr marL="73220" algn="ctr">
              <a:lnSpc>
                <a:spcPts val="689"/>
              </a:lnSpc>
            </a:pPr>
            <a:r>
              <a:rPr sz="1400" b="1" spc="-12" dirty="0">
                <a:solidFill>
                  <a:srgbClr val="0000CC"/>
                </a:solidFill>
                <a:latin typeface="Times New Roman"/>
                <a:cs typeface="Times New Roman"/>
              </a:rPr>
              <a:t>By</a:t>
            </a:r>
            <a:endParaRPr sz="1400" dirty="0">
              <a:latin typeface="Times New Roman"/>
              <a:cs typeface="Times New Roman"/>
            </a:endParaRPr>
          </a:p>
        </p:txBody>
      </p:sp>
      <p:graphicFrame>
        <p:nvGraphicFramePr>
          <p:cNvPr id="4" name="object 4"/>
          <p:cNvGraphicFramePr>
            <a:graphicFrameLocks noGrp="1"/>
          </p:cNvGraphicFramePr>
          <p:nvPr>
            <p:extLst>
              <p:ext uri="{D42A27DB-BD31-4B8C-83A1-F6EECF244321}">
                <p14:modId xmlns:p14="http://schemas.microsoft.com/office/powerpoint/2010/main" val="151020316"/>
              </p:ext>
            </p:extLst>
          </p:nvPr>
        </p:nvGraphicFramePr>
        <p:xfrm>
          <a:off x="4827639" y="2016860"/>
          <a:ext cx="3293806" cy="1441979"/>
        </p:xfrm>
        <a:graphic>
          <a:graphicData uri="http://schemas.openxmlformats.org/drawingml/2006/table">
            <a:tbl>
              <a:tblPr firstRow="1" bandRow="1">
                <a:tableStyleId>{2D5ABB26-0587-4C30-8999-92F81FD0307C}</a:tableStyleId>
              </a:tblPr>
              <a:tblGrid>
                <a:gridCol w="1502975">
                  <a:extLst>
                    <a:ext uri="{9D8B030D-6E8A-4147-A177-3AD203B41FA5}">
                      <a16:colId xmlns:a16="http://schemas.microsoft.com/office/drawing/2014/main" val="20000"/>
                    </a:ext>
                  </a:extLst>
                </a:gridCol>
                <a:gridCol w="1790831">
                  <a:extLst>
                    <a:ext uri="{9D8B030D-6E8A-4147-A177-3AD203B41FA5}">
                      <a16:colId xmlns:a16="http://schemas.microsoft.com/office/drawing/2014/main" val="20001"/>
                    </a:ext>
                  </a:extLst>
                </a:gridCol>
              </a:tblGrid>
              <a:tr h="280074">
                <a:tc>
                  <a:txBody>
                    <a:bodyPr/>
                    <a:lstStyle/>
                    <a:p>
                      <a:pPr marL="47625" algn="l">
                        <a:lnSpc>
                          <a:spcPts val="1310"/>
                        </a:lnSpc>
                      </a:pPr>
                      <a:endParaRPr lang="en-US" sz="1200" b="1" dirty="0"/>
                    </a:p>
                    <a:p>
                      <a:pPr marL="47625" algn="l">
                        <a:lnSpc>
                          <a:spcPts val="1310"/>
                        </a:lnSpc>
                      </a:pPr>
                      <a:r>
                        <a:rPr lang="en-US" sz="1400" b="1" dirty="0"/>
                        <a:t>C.JHANSI</a:t>
                      </a:r>
                      <a:endParaRPr sz="1400" dirty="0">
                        <a:latin typeface="Times New Roman"/>
                        <a:cs typeface="Times New Roman"/>
                      </a:endParaRPr>
                    </a:p>
                  </a:txBody>
                  <a:tcPr marL="0" marR="0" marT="0" marB="0"/>
                </a:tc>
                <a:tc>
                  <a:txBody>
                    <a:bodyPr/>
                    <a:lstStyle/>
                    <a:p>
                      <a:pPr marR="24130" algn="r">
                        <a:lnSpc>
                          <a:spcPts val="1310"/>
                        </a:lnSpc>
                      </a:pPr>
                      <a:endParaRPr lang="en-US" sz="1400" b="1" spc="-10" dirty="0"/>
                    </a:p>
                    <a:p>
                      <a:pPr marR="24130" algn="r">
                        <a:lnSpc>
                          <a:spcPts val="1310"/>
                        </a:lnSpc>
                      </a:pPr>
                      <a:r>
                        <a:rPr sz="1400" b="1" spc="-10" dirty="0"/>
                        <a:t>232G1A320</a:t>
                      </a:r>
                      <a:r>
                        <a:rPr lang="en-US" sz="1400" b="1" spc="-10" dirty="0"/>
                        <a:t>9</a:t>
                      </a:r>
                      <a:endParaRPr sz="1400" dirty="0">
                        <a:latin typeface="Times New Roman"/>
                        <a:cs typeface="Times New Roman"/>
                      </a:endParaRPr>
                    </a:p>
                  </a:txBody>
                  <a:tcPr marL="0" marR="0" marT="0" marB="0"/>
                </a:tc>
                <a:extLst>
                  <a:ext uri="{0D108BD9-81ED-4DB2-BD59-A6C34878D82A}">
                    <a16:rowId xmlns:a16="http://schemas.microsoft.com/office/drawing/2014/main" val="10000"/>
                  </a:ext>
                </a:extLst>
              </a:tr>
              <a:tr h="169608">
                <a:tc>
                  <a:txBody>
                    <a:bodyPr/>
                    <a:lstStyle/>
                    <a:p>
                      <a:pPr marL="47625" algn="just">
                        <a:lnSpc>
                          <a:spcPct val="100000"/>
                        </a:lnSpc>
                        <a:spcBef>
                          <a:spcPts val="280"/>
                        </a:spcBef>
                      </a:pPr>
                      <a:r>
                        <a:rPr lang="en-US" sz="1400" b="1" dirty="0"/>
                        <a:t>C.GAYATHRI</a:t>
                      </a:r>
                      <a:endParaRPr sz="1400" dirty="0">
                        <a:latin typeface="Times New Roman"/>
                        <a:cs typeface="Times New Roman"/>
                      </a:endParaRPr>
                    </a:p>
                  </a:txBody>
                  <a:tcPr marL="0" marR="0" marT="17084" marB="0"/>
                </a:tc>
                <a:tc>
                  <a:txBody>
                    <a:bodyPr/>
                    <a:lstStyle/>
                    <a:p>
                      <a:pPr marR="24130" algn="r">
                        <a:lnSpc>
                          <a:spcPct val="100000"/>
                        </a:lnSpc>
                        <a:spcBef>
                          <a:spcPts val="280"/>
                        </a:spcBef>
                      </a:pPr>
                      <a:r>
                        <a:rPr sz="1400" b="1" spc="-10" dirty="0"/>
                        <a:t>232G1A32</a:t>
                      </a:r>
                      <a:r>
                        <a:rPr lang="en-US" sz="1400" b="1" spc="-10" dirty="0"/>
                        <a:t>08</a:t>
                      </a:r>
                      <a:endParaRPr sz="1400" dirty="0">
                        <a:latin typeface="Times New Roman"/>
                        <a:cs typeface="Times New Roman"/>
                      </a:endParaRPr>
                    </a:p>
                  </a:txBody>
                  <a:tcPr marL="0" marR="0" marT="17084" marB="0"/>
                </a:tc>
                <a:extLst>
                  <a:ext uri="{0D108BD9-81ED-4DB2-BD59-A6C34878D82A}">
                    <a16:rowId xmlns:a16="http://schemas.microsoft.com/office/drawing/2014/main" val="10001"/>
                  </a:ext>
                </a:extLst>
              </a:tr>
              <a:tr h="168832">
                <a:tc>
                  <a:txBody>
                    <a:bodyPr/>
                    <a:lstStyle/>
                    <a:p>
                      <a:pPr marL="47625" algn="l">
                        <a:lnSpc>
                          <a:spcPct val="100000"/>
                        </a:lnSpc>
                        <a:spcBef>
                          <a:spcPts val="265"/>
                        </a:spcBef>
                      </a:pPr>
                      <a:r>
                        <a:rPr lang="en-US" sz="1400" b="1" dirty="0"/>
                        <a:t>S.BANU</a:t>
                      </a:r>
                      <a:endParaRPr sz="1400" dirty="0">
                        <a:latin typeface="Times New Roman"/>
                        <a:cs typeface="Times New Roman"/>
                      </a:endParaRPr>
                    </a:p>
                  </a:txBody>
                  <a:tcPr marL="0" marR="0" marT="16169" marB="0"/>
                </a:tc>
                <a:tc>
                  <a:txBody>
                    <a:bodyPr/>
                    <a:lstStyle/>
                    <a:p>
                      <a:pPr marR="24130" algn="r">
                        <a:lnSpc>
                          <a:spcPct val="100000"/>
                        </a:lnSpc>
                        <a:spcBef>
                          <a:spcPts val="265"/>
                        </a:spcBef>
                      </a:pPr>
                      <a:r>
                        <a:rPr sz="1400" b="1" spc="-10" dirty="0"/>
                        <a:t>232G1A32</a:t>
                      </a:r>
                      <a:r>
                        <a:rPr lang="en-US" sz="1400" b="1" spc="-10" dirty="0"/>
                        <a:t>50</a:t>
                      </a:r>
                      <a:endParaRPr sz="1400" dirty="0">
                        <a:latin typeface="Times New Roman"/>
                        <a:cs typeface="Times New Roman"/>
                      </a:endParaRPr>
                    </a:p>
                  </a:txBody>
                  <a:tcPr marL="0" marR="0" marT="16169" marB="0"/>
                </a:tc>
                <a:extLst>
                  <a:ext uri="{0D108BD9-81ED-4DB2-BD59-A6C34878D82A}">
                    <a16:rowId xmlns:a16="http://schemas.microsoft.com/office/drawing/2014/main" val="10002"/>
                  </a:ext>
                </a:extLst>
              </a:tr>
              <a:tr h="169608">
                <a:tc>
                  <a:txBody>
                    <a:bodyPr/>
                    <a:lstStyle/>
                    <a:p>
                      <a:pPr marL="47625" algn="l">
                        <a:lnSpc>
                          <a:spcPct val="100000"/>
                        </a:lnSpc>
                        <a:spcBef>
                          <a:spcPts val="280"/>
                        </a:spcBef>
                      </a:pPr>
                      <a:r>
                        <a:rPr sz="1400" b="1" dirty="0"/>
                        <a:t>K.</a:t>
                      </a:r>
                      <a:r>
                        <a:rPr sz="1400" b="1" spc="-60" dirty="0"/>
                        <a:t> </a:t>
                      </a:r>
                      <a:r>
                        <a:rPr lang="en-US" sz="1400" b="1" spc="-60" dirty="0"/>
                        <a:t>JAHNAVI</a:t>
                      </a:r>
                      <a:endParaRPr sz="1400" dirty="0">
                        <a:latin typeface="Times New Roman"/>
                        <a:cs typeface="Times New Roman"/>
                      </a:endParaRPr>
                    </a:p>
                  </a:txBody>
                  <a:tcPr marL="0" marR="0" marT="17084" marB="0"/>
                </a:tc>
                <a:tc>
                  <a:txBody>
                    <a:bodyPr/>
                    <a:lstStyle/>
                    <a:p>
                      <a:pPr marR="27305" algn="r">
                        <a:lnSpc>
                          <a:spcPct val="100000"/>
                        </a:lnSpc>
                        <a:spcBef>
                          <a:spcPts val="280"/>
                        </a:spcBef>
                      </a:pPr>
                      <a:r>
                        <a:rPr sz="1400" b="1" spc="-10" dirty="0"/>
                        <a:t>232G1A32</a:t>
                      </a:r>
                      <a:r>
                        <a:rPr lang="en-US" sz="1400" b="1" spc="-10" dirty="0"/>
                        <a:t>21</a:t>
                      </a:r>
                      <a:endParaRPr sz="1400" dirty="0">
                        <a:latin typeface="Times New Roman"/>
                        <a:cs typeface="Times New Roman"/>
                      </a:endParaRPr>
                    </a:p>
                  </a:txBody>
                  <a:tcPr marL="0" marR="0" marT="17084" marB="0"/>
                </a:tc>
                <a:extLst>
                  <a:ext uri="{0D108BD9-81ED-4DB2-BD59-A6C34878D82A}">
                    <a16:rowId xmlns:a16="http://schemas.microsoft.com/office/drawing/2014/main" val="10003"/>
                  </a:ext>
                </a:extLst>
              </a:tr>
              <a:tr h="169608">
                <a:tc>
                  <a:txBody>
                    <a:bodyPr/>
                    <a:lstStyle/>
                    <a:p>
                      <a:pPr marL="31750" algn="l">
                        <a:lnSpc>
                          <a:spcPct val="100000"/>
                        </a:lnSpc>
                        <a:spcBef>
                          <a:spcPts val="280"/>
                        </a:spcBef>
                      </a:pPr>
                      <a:endParaRPr sz="1200" dirty="0">
                        <a:latin typeface="Times New Roman"/>
                        <a:cs typeface="Times New Roman"/>
                      </a:endParaRPr>
                    </a:p>
                  </a:txBody>
                  <a:tcPr marL="0" marR="0" marT="17084" marB="0"/>
                </a:tc>
                <a:tc>
                  <a:txBody>
                    <a:bodyPr/>
                    <a:lstStyle/>
                    <a:p>
                      <a:pPr marR="40005" algn="r">
                        <a:lnSpc>
                          <a:spcPct val="100000"/>
                        </a:lnSpc>
                        <a:spcBef>
                          <a:spcPts val="280"/>
                        </a:spcBef>
                      </a:pPr>
                      <a:endParaRPr sz="1400" dirty="0">
                        <a:latin typeface="Times New Roman"/>
                        <a:cs typeface="Times New Roman"/>
                      </a:endParaRPr>
                    </a:p>
                  </a:txBody>
                  <a:tcPr marL="0" marR="0" marT="17084" marB="0"/>
                </a:tc>
                <a:extLst>
                  <a:ext uri="{0D108BD9-81ED-4DB2-BD59-A6C34878D82A}">
                    <a16:rowId xmlns:a16="http://schemas.microsoft.com/office/drawing/2014/main" val="10004"/>
                  </a:ext>
                </a:extLst>
              </a:tr>
              <a:tr h="161936">
                <a:tc>
                  <a:txBody>
                    <a:bodyPr/>
                    <a:lstStyle/>
                    <a:p>
                      <a:pPr marL="47625" algn="l">
                        <a:lnSpc>
                          <a:spcPts val="1360"/>
                        </a:lnSpc>
                        <a:spcBef>
                          <a:spcPts val="215"/>
                        </a:spcBef>
                      </a:pPr>
                      <a:endParaRPr sz="1200" dirty="0">
                        <a:latin typeface="Times New Roman"/>
                        <a:cs typeface="Times New Roman"/>
                      </a:endParaRPr>
                    </a:p>
                  </a:txBody>
                  <a:tcPr marL="0" marR="0" marT="13118" marB="0"/>
                </a:tc>
                <a:tc>
                  <a:txBody>
                    <a:bodyPr/>
                    <a:lstStyle/>
                    <a:p>
                      <a:pPr marR="52705" algn="r">
                        <a:lnSpc>
                          <a:spcPts val="1360"/>
                        </a:lnSpc>
                        <a:spcBef>
                          <a:spcPts val="215"/>
                        </a:spcBef>
                      </a:pPr>
                      <a:endParaRPr sz="1200" dirty="0">
                        <a:latin typeface="Times New Roman"/>
                        <a:cs typeface="Times New Roman"/>
                      </a:endParaRPr>
                    </a:p>
                  </a:txBody>
                  <a:tcPr marL="0" marR="0" marT="13118" marB="0"/>
                </a:tc>
                <a:extLst>
                  <a:ext uri="{0D108BD9-81ED-4DB2-BD59-A6C34878D82A}">
                    <a16:rowId xmlns:a16="http://schemas.microsoft.com/office/drawing/2014/main" val="10005"/>
                  </a:ext>
                </a:extLst>
              </a:tr>
            </a:tbl>
          </a:graphicData>
        </a:graphic>
      </p:graphicFrame>
      <p:sp>
        <p:nvSpPr>
          <p:cNvPr id="5" name="object 5"/>
          <p:cNvSpPr txBox="1"/>
          <p:nvPr/>
        </p:nvSpPr>
        <p:spPr>
          <a:xfrm>
            <a:off x="4542503" y="3146323"/>
            <a:ext cx="3677264" cy="1109732"/>
          </a:xfrm>
          <a:prstGeom prst="rect">
            <a:avLst/>
          </a:prstGeom>
        </p:spPr>
        <p:txBody>
          <a:bodyPr vert="horz" wrap="square" lIns="0" tIns="6101" rIns="0" bIns="0" rtlCol="0">
            <a:spAutoFit/>
          </a:bodyPr>
          <a:lstStyle/>
          <a:p>
            <a:pPr marL="286781" algn="ctr">
              <a:spcBef>
                <a:spcPts val="48"/>
              </a:spcBef>
            </a:pPr>
            <a:r>
              <a:rPr sz="1400" dirty="0">
                <a:solidFill>
                  <a:srgbClr val="0000CC"/>
                </a:solidFill>
                <a:latin typeface="Times New Roman"/>
                <a:cs typeface="Times New Roman"/>
              </a:rPr>
              <a:t>Under</a:t>
            </a:r>
            <a:r>
              <a:rPr sz="1400" spc="-24" dirty="0">
                <a:solidFill>
                  <a:srgbClr val="0000CC"/>
                </a:solidFill>
                <a:latin typeface="Times New Roman"/>
                <a:cs typeface="Times New Roman"/>
              </a:rPr>
              <a:t> </a:t>
            </a:r>
            <a:r>
              <a:rPr sz="1400" dirty="0">
                <a:solidFill>
                  <a:srgbClr val="0000CC"/>
                </a:solidFill>
                <a:latin typeface="Times New Roman"/>
                <a:cs typeface="Times New Roman"/>
              </a:rPr>
              <a:t>the</a:t>
            </a:r>
            <a:r>
              <a:rPr sz="1400" spc="-26" dirty="0">
                <a:solidFill>
                  <a:srgbClr val="0000CC"/>
                </a:solidFill>
                <a:latin typeface="Times New Roman"/>
                <a:cs typeface="Times New Roman"/>
              </a:rPr>
              <a:t> </a:t>
            </a:r>
            <a:r>
              <a:rPr sz="1400" dirty="0">
                <a:solidFill>
                  <a:srgbClr val="0000CC"/>
                </a:solidFill>
                <a:latin typeface="Times New Roman"/>
                <a:cs typeface="Times New Roman"/>
              </a:rPr>
              <a:t>Esteemed</a:t>
            </a:r>
            <a:r>
              <a:rPr sz="1400" spc="-22" dirty="0">
                <a:solidFill>
                  <a:srgbClr val="0000CC"/>
                </a:solidFill>
                <a:latin typeface="Times New Roman"/>
                <a:cs typeface="Times New Roman"/>
              </a:rPr>
              <a:t> </a:t>
            </a:r>
            <a:r>
              <a:rPr sz="1400" dirty="0">
                <a:solidFill>
                  <a:srgbClr val="0000CC"/>
                </a:solidFill>
                <a:latin typeface="Times New Roman"/>
                <a:cs typeface="Times New Roman"/>
              </a:rPr>
              <a:t>Guidance</a:t>
            </a:r>
            <a:r>
              <a:rPr sz="1400" spc="-24" dirty="0">
                <a:solidFill>
                  <a:srgbClr val="0000CC"/>
                </a:solidFill>
                <a:latin typeface="Times New Roman"/>
                <a:cs typeface="Times New Roman"/>
              </a:rPr>
              <a:t> </a:t>
            </a:r>
            <a:r>
              <a:rPr sz="1400" spc="-12" dirty="0">
                <a:solidFill>
                  <a:srgbClr val="0000CC"/>
                </a:solidFill>
                <a:latin typeface="Times New Roman"/>
                <a:cs typeface="Times New Roman"/>
              </a:rPr>
              <a:t>of</a:t>
            </a:r>
            <a:endParaRPr sz="1400" dirty="0">
              <a:latin typeface="Times New Roman"/>
              <a:cs typeface="Times New Roman"/>
            </a:endParaRPr>
          </a:p>
          <a:p>
            <a:pPr marL="248645" algn="ctr">
              <a:spcBef>
                <a:spcPts val="641"/>
              </a:spcBef>
            </a:pPr>
            <a:r>
              <a:rPr sz="1400" b="1" spc="-10" dirty="0">
                <a:solidFill>
                  <a:srgbClr val="FF0000"/>
                </a:solidFill>
                <a:latin typeface="Times New Roman"/>
                <a:cs typeface="Times New Roman"/>
              </a:rPr>
              <a:t>Mr.</a:t>
            </a:r>
            <a:r>
              <a:rPr sz="1400" b="1" spc="-22" dirty="0">
                <a:solidFill>
                  <a:srgbClr val="FF0000"/>
                </a:solidFill>
                <a:latin typeface="Times New Roman"/>
                <a:cs typeface="Times New Roman"/>
              </a:rPr>
              <a:t> </a:t>
            </a:r>
            <a:r>
              <a:rPr sz="1400" b="1" dirty="0">
                <a:solidFill>
                  <a:srgbClr val="FF0000"/>
                </a:solidFill>
                <a:latin typeface="Times New Roman"/>
                <a:cs typeface="Times New Roman"/>
              </a:rPr>
              <a:t>V.</a:t>
            </a:r>
            <a:r>
              <a:rPr sz="1400" b="1" spc="-50" dirty="0">
                <a:solidFill>
                  <a:srgbClr val="FF0000"/>
                </a:solidFill>
                <a:latin typeface="Times New Roman"/>
                <a:cs typeface="Times New Roman"/>
              </a:rPr>
              <a:t> </a:t>
            </a:r>
            <a:r>
              <a:rPr sz="1400" b="1" spc="-10" dirty="0">
                <a:solidFill>
                  <a:srgbClr val="FF0000"/>
                </a:solidFill>
                <a:latin typeface="Times New Roman"/>
                <a:cs typeface="Times New Roman"/>
              </a:rPr>
              <a:t>NAVEEN</a:t>
            </a:r>
            <a:r>
              <a:rPr sz="1400" b="1" spc="-17" dirty="0">
                <a:solidFill>
                  <a:srgbClr val="FF0000"/>
                </a:solidFill>
                <a:latin typeface="Times New Roman"/>
                <a:cs typeface="Times New Roman"/>
              </a:rPr>
              <a:t> </a:t>
            </a:r>
            <a:r>
              <a:rPr sz="1400" b="1" spc="-10" dirty="0">
                <a:solidFill>
                  <a:srgbClr val="FF0000"/>
                </a:solidFill>
                <a:latin typeface="Times New Roman"/>
                <a:cs typeface="Times New Roman"/>
              </a:rPr>
              <a:t>KUMAR,</a:t>
            </a:r>
            <a:r>
              <a:rPr sz="1400" b="1" spc="-8" dirty="0">
                <a:solidFill>
                  <a:srgbClr val="FF0000"/>
                </a:solidFill>
                <a:latin typeface="Times New Roman"/>
                <a:cs typeface="Times New Roman"/>
              </a:rPr>
              <a:t> </a:t>
            </a:r>
            <a:r>
              <a:rPr sz="1200" b="1" spc="-5" dirty="0">
                <a:solidFill>
                  <a:srgbClr val="FF0000"/>
                </a:solidFill>
                <a:latin typeface="Times New Roman"/>
                <a:cs typeface="Times New Roman"/>
              </a:rPr>
              <a:t>M.Tech.,</a:t>
            </a:r>
            <a:endParaRPr sz="1400" dirty="0">
              <a:latin typeface="Times New Roman"/>
              <a:cs typeface="Times New Roman"/>
            </a:endParaRPr>
          </a:p>
          <a:p>
            <a:pPr marL="521697" marR="2441" indent="-515900" algn="ctr">
              <a:lnSpc>
                <a:spcPct val="105900"/>
              </a:lnSpc>
              <a:spcBef>
                <a:spcPts val="613"/>
              </a:spcBef>
            </a:pPr>
            <a:r>
              <a:rPr lang="en-US" sz="1400" spc="-5" dirty="0">
                <a:solidFill>
                  <a:srgbClr val="0000CC"/>
                </a:solidFill>
                <a:latin typeface="Times New Roman"/>
                <a:cs typeface="Times New Roman"/>
              </a:rPr>
              <a:t>   </a:t>
            </a:r>
            <a:r>
              <a:rPr sz="1400" spc="-5" dirty="0">
                <a:solidFill>
                  <a:srgbClr val="0000CC"/>
                </a:solidFill>
                <a:latin typeface="Times New Roman"/>
                <a:cs typeface="Times New Roman"/>
              </a:rPr>
              <a:t>Assistant</a:t>
            </a:r>
            <a:r>
              <a:rPr sz="1400" spc="-28" dirty="0">
                <a:solidFill>
                  <a:srgbClr val="0000CC"/>
                </a:solidFill>
                <a:latin typeface="Times New Roman"/>
                <a:cs typeface="Times New Roman"/>
              </a:rPr>
              <a:t> </a:t>
            </a:r>
            <a:r>
              <a:rPr sz="1400" dirty="0">
                <a:solidFill>
                  <a:srgbClr val="0000CC"/>
                </a:solidFill>
                <a:latin typeface="Times New Roman"/>
                <a:cs typeface="Times New Roman"/>
              </a:rPr>
              <a:t>Professor</a:t>
            </a:r>
            <a:r>
              <a:rPr sz="1400" spc="-24" dirty="0">
                <a:solidFill>
                  <a:srgbClr val="0000CC"/>
                </a:solidFill>
                <a:latin typeface="Times New Roman"/>
                <a:cs typeface="Times New Roman"/>
              </a:rPr>
              <a:t> </a:t>
            </a:r>
            <a:r>
              <a:rPr sz="1400" dirty="0">
                <a:solidFill>
                  <a:srgbClr val="0000CC"/>
                </a:solidFill>
                <a:latin typeface="Times New Roman"/>
                <a:cs typeface="Times New Roman"/>
              </a:rPr>
              <a:t>in</a:t>
            </a:r>
            <a:r>
              <a:rPr sz="1400" spc="-24" dirty="0">
                <a:solidFill>
                  <a:srgbClr val="0000CC"/>
                </a:solidFill>
                <a:latin typeface="Times New Roman"/>
                <a:cs typeface="Times New Roman"/>
              </a:rPr>
              <a:t> </a:t>
            </a:r>
            <a:r>
              <a:rPr sz="1400" spc="-5" dirty="0">
                <a:solidFill>
                  <a:srgbClr val="0000CC"/>
                </a:solidFill>
                <a:latin typeface="Times New Roman"/>
                <a:cs typeface="Times New Roman"/>
              </a:rPr>
              <a:t>Computer</a:t>
            </a:r>
            <a:r>
              <a:rPr sz="1400" spc="-24" dirty="0">
                <a:solidFill>
                  <a:srgbClr val="0000CC"/>
                </a:solidFill>
                <a:latin typeface="Times New Roman"/>
                <a:cs typeface="Times New Roman"/>
              </a:rPr>
              <a:t> </a:t>
            </a:r>
            <a:r>
              <a:rPr sz="1400" dirty="0">
                <a:solidFill>
                  <a:srgbClr val="0000CC"/>
                </a:solidFill>
                <a:latin typeface="Times New Roman"/>
                <a:cs typeface="Times New Roman"/>
              </a:rPr>
              <a:t>Science</a:t>
            </a:r>
            <a:r>
              <a:rPr sz="1400" spc="-17" dirty="0">
                <a:solidFill>
                  <a:srgbClr val="0000CC"/>
                </a:solidFill>
                <a:latin typeface="Times New Roman"/>
                <a:cs typeface="Times New Roman"/>
              </a:rPr>
              <a:t> </a:t>
            </a:r>
            <a:endParaRPr lang="en-US" sz="1400" spc="-17" dirty="0">
              <a:solidFill>
                <a:srgbClr val="0000CC"/>
              </a:solidFill>
              <a:latin typeface="Times New Roman"/>
              <a:cs typeface="Times New Roman"/>
            </a:endParaRPr>
          </a:p>
          <a:p>
            <a:pPr marL="521697" marR="2441" indent="-515900" algn="ctr">
              <a:lnSpc>
                <a:spcPct val="105900"/>
              </a:lnSpc>
              <a:spcBef>
                <a:spcPts val="613"/>
              </a:spcBef>
            </a:pPr>
            <a:r>
              <a:rPr lang="en-US" sz="1400" spc="-17" dirty="0">
                <a:solidFill>
                  <a:srgbClr val="0000CC"/>
                </a:solidFill>
                <a:latin typeface="Times New Roman"/>
                <a:cs typeface="Times New Roman"/>
              </a:rPr>
              <a:t>   and  </a:t>
            </a:r>
            <a:r>
              <a:rPr sz="1400" spc="-5" dirty="0">
                <a:solidFill>
                  <a:srgbClr val="0000CC"/>
                </a:solidFill>
                <a:latin typeface="Times New Roman"/>
                <a:cs typeface="Times New Roman"/>
              </a:rPr>
              <a:t>Engineering, </a:t>
            </a:r>
            <a:r>
              <a:rPr sz="1400" dirty="0">
                <a:solidFill>
                  <a:srgbClr val="0000CC"/>
                </a:solidFill>
                <a:latin typeface="Times New Roman"/>
                <a:cs typeface="Times New Roman"/>
              </a:rPr>
              <a:t>ALTS,</a:t>
            </a:r>
            <a:r>
              <a:rPr sz="1400" spc="-12" dirty="0">
                <a:solidFill>
                  <a:srgbClr val="0000CC"/>
                </a:solidFill>
                <a:latin typeface="Times New Roman"/>
                <a:cs typeface="Times New Roman"/>
              </a:rPr>
              <a:t> </a:t>
            </a:r>
            <a:r>
              <a:rPr sz="1400" spc="-5" dirty="0">
                <a:solidFill>
                  <a:srgbClr val="0000CC"/>
                </a:solidFill>
                <a:latin typeface="Times New Roman"/>
                <a:cs typeface="Times New Roman"/>
              </a:rPr>
              <a:t>Anantapur</a:t>
            </a:r>
            <a:r>
              <a:rPr sz="1200" spc="-5" dirty="0">
                <a:solidFill>
                  <a:srgbClr val="0000CC"/>
                </a:solidFill>
                <a:latin typeface="Times New Roman"/>
                <a:cs typeface="Times New Roman"/>
              </a:rPr>
              <a:t>.</a:t>
            </a:r>
            <a:endParaRPr sz="1200" dirty="0">
              <a:latin typeface="Times New Roman"/>
              <a:cs typeface="Times New Roman"/>
            </a:endParaRPr>
          </a:p>
        </p:txBody>
      </p:sp>
      <p:sp>
        <p:nvSpPr>
          <p:cNvPr id="6" name="object 6"/>
          <p:cNvSpPr txBox="1"/>
          <p:nvPr/>
        </p:nvSpPr>
        <p:spPr>
          <a:xfrm>
            <a:off x="3834581" y="5148381"/>
            <a:ext cx="5260257" cy="1598904"/>
          </a:xfrm>
          <a:prstGeom prst="rect">
            <a:avLst/>
          </a:prstGeom>
        </p:spPr>
        <p:txBody>
          <a:bodyPr vert="horz" wrap="square" lIns="0" tIns="6101" rIns="0" bIns="0" rtlCol="0">
            <a:spAutoFit/>
          </a:bodyPr>
          <a:lstStyle/>
          <a:p>
            <a:pPr marL="306611" marR="354205" indent="64068" algn="ctr">
              <a:lnSpc>
                <a:spcPct val="149400"/>
              </a:lnSpc>
              <a:spcBef>
                <a:spcPts val="48"/>
              </a:spcBef>
            </a:pPr>
            <a:r>
              <a:rPr sz="1200" b="1" dirty="0">
                <a:solidFill>
                  <a:srgbClr val="048504"/>
                </a:solidFill>
                <a:latin typeface="Times New Roman"/>
                <a:cs typeface="Times New Roman"/>
              </a:rPr>
              <a:t>DEPARTMENT</a:t>
            </a:r>
            <a:r>
              <a:rPr sz="1200" b="1" spc="-14" dirty="0">
                <a:solidFill>
                  <a:srgbClr val="048504"/>
                </a:solidFill>
                <a:latin typeface="Times New Roman"/>
                <a:cs typeface="Times New Roman"/>
              </a:rPr>
              <a:t> </a:t>
            </a:r>
            <a:r>
              <a:rPr sz="1200" b="1" dirty="0">
                <a:solidFill>
                  <a:srgbClr val="048504"/>
                </a:solidFill>
                <a:latin typeface="Times New Roman"/>
                <a:cs typeface="Times New Roman"/>
              </a:rPr>
              <a:t>OF</a:t>
            </a:r>
            <a:r>
              <a:rPr sz="1200" b="1" spc="-20" dirty="0">
                <a:solidFill>
                  <a:srgbClr val="048504"/>
                </a:solidFill>
                <a:latin typeface="Times New Roman"/>
                <a:cs typeface="Times New Roman"/>
              </a:rPr>
              <a:t> </a:t>
            </a:r>
            <a:r>
              <a:rPr sz="1200" b="1" dirty="0">
                <a:solidFill>
                  <a:srgbClr val="048504"/>
                </a:solidFill>
                <a:latin typeface="Times New Roman"/>
                <a:cs typeface="Times New Roman"/>
              </a:rPr>
              <a:t>COMPUTER</a:t>
            </a:r>
            <a:r>
              <a:rPr sz="1200" b="1" spc="-12" dirty="0">
                <a:solidFill>
                  <a:srgbClr val="048504"/>
                </a:solidFill>
                <a:latin typeface="Times New Roman"/>
                <a:cs typeface="Times New Roman"/>
              </a:rPr>
              <a:t> </a:t>
            </a:r>
            <a:r>
              <a:rPr sz="1200" b="1" dirty="0">
                <a:solidFill>
                  <a:srgbClr val="048504"/>
                </a:solidFill>
                <a:latin typeface="Times New Roman"/>
                <a:cs typeface="Times New Roman"/>
              </a:rPr>
              <a:t>SCIENCE</a:t>
            </a:r>
            <a:r>
              <a:rPr sz="1200" b="1" spc="-14" dirty="0">
                <a:solidFill>
                  <a:srgbClr val="048504"/>
                </a:solidFill>
                <a:latin typeface="Times New Roman"/>
                <a:cs typeface="Times New Roman"/>
              </a:rPr>
              <a:t> </a:t>
            </a:r>
            <a:r>
              <a:rPr sz="1200" b="1" dirty="0">
                <a:solidFill>
                  <a:srgbClr val="048504"/>
                </a:solidFill>
                <a:latin typeface="Times New Roman"/>
                <a:cs typeface="Times New Roman"/>
              </a:rPr>
              <a:t>AND</a:t>
            </a:r>
            <a:r>
              <a:rPr sz="1200" b="1" spc="-10" dirty="0">
                <a:solidFill>
                  <a:srgbClr val="048504"/>
                </a:solidFill>
                <a:latin typeface="Times New Roman"/>
                <a:cs typeface="Times New Roman"/>
              </a:rPr>
              <a:t> </a:t>
            </a:r>
            <a:r>
              <a:rPr sz="1200" b="1" spc="-5" dirty="0">
                <a:solidFill>
                  <a:srgbClr val="048504"/>
                </a:solidFill>
                <a:latin typeface="Times New Roman"/>
                <a:cs typeface="Times New Roman"/>
              </a:rPr>
              <a:t>ENGINEERING </a:t>
            </a:r>
            <a:r>
              <a:rPr sz="1200" b="1" dirty="0">
                <a:solidFill>
                  <a:srgbClr val="0000CC"/>
                </a:solidFill>
                <a:latin typeface="Times New Roman"/>
                <a:cs typeface="Times New Roman"/>
              </a:rPr>
              <a:t>ANANTHA</a:t>
            </a:r>
            <a:r>
              <a:rPr sz="1200" b="1" spc="-26" dirty="0">
                <a:solidFill>
                  <a:srgbClr val="0000CC"/>
                </a:solidFill>
                <a:latin typeface="Times New Roman"/>
                <a:cs typeface="Times New Roman"/>
              </a:rPr>
              <a:t> </a:t>
            </a:r>
            <a:r>
              <a:rPr sz="1200" b="1" dirty="0">
                <a:solidFill>
                  <a:srgbClr val="0000CC"/>
                </a:solidFill>
                <a:latin typeface="Times New Roman"/>
                <a:cs typeface="Times New Roman"/>
              </a:rPr>
              <a:t>LAKSHMI</a:t>
            </a:r>
            <a:r>
              <a:rPr sz="1200" b="1" spc="-20" dirty="0">
                <a:solidFill>
                  <a:srgbClr val="0000CC"/>
                </a:solidFill>
                <a:latin typeface="Times New Roman"/>
                <a:cs typeface="Times New Roman"/>
              </a:rPr>
              <a:t> </a:t>
            </a:r>
            <a:r>
              <a:rPr sz="1200" b="1" dirty="0">
                <a:solidFill>
                  <a:srgbClr val="0000CC"/>
                </a:solidFill>
                <a:latin typeface="Times New Roman"/>
                <a:cs typeface="Times New Roman"/>
              </a:rPr>
              <a:t>INSTITUTE</a:t>
            </a:r>
            <a:r>
              <a:rPr sz="1200" b="1" spc="-28" dirty="0">
                <a:solidFill>
                  <a:srgbClr val="0000CC"/>
                </a:solidFill>
                <a:latin typeface="Times New Roman"/>
                <a:cs typeface="Times New Roman"/>
              </a:rPr>
              <a:t> </a:t>
            </a:r>
            <a:r>
              <a:rPr sz="1200" b="1" dirty="0">
                <a:solidFill>
                  <a:srgbClr val="0000CC"/>
                </a:solidFill>
                <a:latin typeface="Times New Roman"/>
                <a:cs typeface="Times New Roman"/>
              </a:rPr>
              <a:t>OF</a:t>
            </a:r>
            <a:r>
              <a:rPr sz="1200" b="1" spc="-26" dirty="0">
                <a:solidFill>
                  <a:srgbClr val="0000CC"/>
                </a:solidFill>
                <a:latin typeface="Times New Roman"/>
                <a:cs typeface="Times New Roman"/>
              </a:rPr>
              <a:t> </a:t>
            </a:r>
            <a:r>
              <a:rPr sz="1200" b="1" spc="-5" dirty="0">
                <a:solidFill>
                  <a:srgbClr val="0000CC"/>
                </a:solidFill>
                <a:latin typeface="Times New Roman"/>
                <a:cs typeface="Times New Roman"/>
              </a:rPr>
              <a:t>TECHNOLOGY</a:t>
            </a:r>
            <a:r>
              <a:rPr sz="1200" b="1" spc="-17" dirty="0">
                <a:solidFill>
                  <a:srgbClr val="0000CC"/>
                </a:solidFill>
                <a:latin typeface="Times New Roman"/>
                <a:cs typeface="Times New Roman"/>
              </a:rPr>
              <a:t> </a:t>
            </a:r>
            <a:r>
              <a:rPr sz="1200" b="1" dirty="0">
                <a:solidFill>
                  <a:srgbClr val="0000CC"/>
                </a:solidFill>
                <a:latin typeface="Times New Roman"/>
                <a:cs typeface="Times New Roman"/>
              </a:rPr>
              <a:t>&amp;</a:t>
            </a:r>
            <a:r>
              <a:rPr sz="1200" b="1" spc="-22" dirty="0">
                <a:solidFill>
                  <a:srgbClr val="0000CC"/>
                </a:solidFill>
                <a:latin typeface="Times New Roman"/>
                <a:cs typeface="Times New Roman"/>
              </a:rPr>
              <a:t> </a:t>
            </a:r>
            <a:r>
              <a:rPr sz="1200" b="1" spc="-5" dirty="0">
                <a:solidFill>
                  <a:srgbClr val="0000CC"/>
                </a:solidFill>
                <a:latin typeface="Times New Roman"/>
                <a:cs typeface="Times New Roman"/>
              </a:rPr>
              <a:t>SCIENCES</a:t>
            </a:r>
            <a:endParaRPr sz="1200" dirty="0">
              <a:latin typeface="Times New Roman"/>
              <a:cs typeface="Times New Roman"/>
            </a:endParaRPr>
          </a:p>
          <a:p>
            <a:pPr marL="308137" marR="2441" indent="-302340" algn="ctr">
              <a:lnSpc>
                <a:spcPct val="144100"/>
              </a:lnSpc>
              <a:spcBef>
                <a:spcPts val="36"/>
              </a:spcBef>
            </a:pPr>
            <a:r>
              <a:rPr sz="1200" b="1" dirty="0">
                <a:solidFill>
                  <a:srgbClr val="FF0000"/>
                </a:solidFill>
                <a:latin typeface="Times New Roman"/>
                <a:cs typeface="Times New Roman"/>
              </a:rPr>
              <a:t>Approved</a:t>
            </a:r>
            <a:r>
              <a:rPr sz="1200" b="1" spc="-12" dirty="0">
                <a:solidFill>
                  <a:srgbClr val="FF0000"/>
                </a:solidFill>
                <a:latin typeface="Times New Roman"/>
                <a:cs typeface="Times New Roman"/>
              </a:rPr>
              <a:t> </a:t>
            </a:r>
            <a:r>
              <a:rPr sz="1200" b="1" dirty="0">
                <a:solidFill>
                  <a:srgbClr val="FF0000"/>
                </a:solidFill>
                <a:latin typeface="Times New Roman"/>
                <a:cs typeface="Times New Roman"/>
              </a:rPr>
              <a:t>by</a:t>
            </a:r>
            <a:r>
              <a:rPr sz="1200" b="1" spc="-17" dirty="0">
                <a:solidFill>
                  <a:srgbClr val="FF0000"/>
                </a:solidFill>
                <a:latin typeface="Times New Roman"/>
                <a:cs typeface="Times New Roman"/>
              </a:rPr>
              <a:t> </a:t>
            </a:r>
            <a:r>
              <a:rPr sz="1200" b="1" dirty="0">
                <a:solidFill>
                  <a:srgbClr val="FF0000"/>
                </a:solidFill>
                <a:latin typeface="Times New Roman"/>
                <a:cs typeface="Times New Roman"/>
              </a:rPr>
              <a:t>AICTE,</a:t>
            </a:r>
            <a:r>
              <a:rPr sz="1200" b="1" spc="-14" dirty="0">
                <a:solidFill>
                  <a:srgbClr val="FF0000"/>
                </a:solidFill>
                <a:latin typeface="Times New Roman"/>
                <a:cs typeface="Times New Roman"/>
              </a:rPr>
              <a:t> </a:t>
            </a:r>
            <a:r>
              <a:rPr sz="1200" b="1" dirty="0">
                <a:solidFill>
                  <a:srgbClr val="FF0000"/>
                </a:solidFill>
                <a:latin typeface="Times New Roman"/>
                <a:cs typeface="Times New Roman"/>
              </a:rPr>
              <a:t>NEW</a:t>
            </a:r>
            <a:r>
              <a:rPr sz="1200" b="1" spc="-14" dirty="0">
                <a:solidFill>
                  <a:srgbClr val="FF0000"/>
                </a:solidFill>
                <a:latin typeface="Times New Roman"/>
                <a:cs typeface="Times New Roman"/>
              </a:rPr>
              <a:t> </a:t>
            </a:r>
            <a:r>
              <a:rPr sz="1200" b="1" dirty="0">
                <a:solidFill>
                  <a:srgbClr val="FF0000"/>
                </a:solidFill>
                <a:latin typeface="Times New Roman"/>
                <a:cs typeface="Times New Roman"/>
              </a:rPr>
              <a:t>DELHI</a:t>
            </a:r>
            <a:r>
              <a:rPr sz="1200" b="1" spc="-12" dirty="0">
                <a:solidFill>
                  <a:srgbClr val="FF0000"/>
                </a:solidFill>
                <a:latin typeface="Times New Roman"/>
                <a:cs typeface="Times New Roman"/>
              </a:rPr>
              <a:t> </a:t>
            </a:r>
            <a:r>
              <a:rPr sz="1200" b="1" dirty="0">
                <a:solidFill>
                  <a:srgbClr val="FF0000"/>
                </a:solidFill>
                <a:latin typeface="Times New Roman"/>
                <a:cs typeface="Times New Roman"/>
              </a:rPr>
              <a:t>&amp;</a:t>
            </a:r>
            <a:r>
              <a:rPr sz="1200" b="1" spc="-14" dirty="0">
                <a:solidFill>
                  <a:srgbClr val="FF0000"/>
                </a:solidFill>
                <a:latin typeface="Times New Roman"/>
                <a:cs typeface="Times New Roman"/>
              </a:rPr>
              <a:t> </a:t>
            </a:r>
            <a:r>
              <a:rPr sz="1200" b="1" spc="-5" dirty="0">
                <a:solidFill>
                  <a:srgbClr val="FF0000"/>
                </a:solidFill>
                <a:latin typeface="Times New Roman"/>
                <a:cs typeface="Times New Roman"/>
              </a:rPr>
              <a:t>Affiliated</a:t>
            </a:r>
            <a:r>
              <a:rPr sz="1200" b="1" spc="-12" dirty="0">
                <a:solidFill>
                  <a:srgbClr val="FF0000"/>
                </a:solidFill>
                <a:latin typeface="Times New Roman"/>
                <a:cs typeface="Times New Roman"/>
              </a:rPr>
              <a:t> </a:t>
            </a:r>
            <a:r>
              <a:rPr sz="1200" b="1" dirty="0">
                <a:solidFill>
                  <a:srgbClr val="FF0000"/>
                </a:solidFill>
                <a:latin typeface="Times New Roman"/>
                <a:cs typeface="Times New Roman"/>
              </a:rPr>
              <a:t>to</a:t>
            </a:r>
            <a:r>
              <a:rPr sz="1200" b="1" spc="-14" dirty="0">
                <a:solidFill>
                  <a:srgbClr val="FF0000"/>
                </a:solidFill>
                <a:latin typeface="Times New Roman"/>
                <a:cs typeface="Times New Roman"/>
              </a:rPr>
              <a:t> </a:t>
            </a:r>
            <a:r>
              <a:rPr sz="1200" b="1" dirty="0">
                <a:solidFill>
                  <a:srgbClr val="FF0000"/>
                </a:solidFill>
                <a:latin typeface="Times New Roman"/>
                <a:cs typeface="Times New Roman"/>
              </a:rPr>
              <a:t>J.N.T.U.</a:t>
            </a:r>
            <a:r>
              <a:rPr sz="1200" b="1" spc="-12" dirty="0">
                <a:solidFill>
                  <a:srgbClr val="FF0000"/>
                </a:solidFill>
                <a:latin typeface="Times New Roman"/>
                <a:cs typeface="Times New Roman"/>
              </a:rPr>
              <a:t> </a:t>
            </a:r>
            <a:r>
              <a:rPr sz="1200" b="1" dirty="0">
                <a:solidFill>
                  <a:srgbClr val="FF0000"/>
                </a:solidFill>
                <a:latin typeface="Times New Roman"/>
                <a:cs typeface="Times New Roman"/>
              </a:rPr>
              <a:t>Anantapur,</a:t>
            </a:r>
            <a:r>
              <a:rPr sz="1200" b="1" spc="-14" dirty="0">
                <a:solidFill>
                  <a:srgbClr val="FF0000"/>
                </a:solidFill>
                <a:latin typeface="Times New Roman"/>
                <a:cs typeface="Times New Roman"/>
              </a:rPr>
              <a:t> </a:t>
            </a:r>
            <a:r>
              <a:rPr sz="1200" b="1" spc="-5" dirty="0">
                <a:solidFill>
                  <a:schemeClr val="tx1">
                    <a:lumMod val="95000"/>
                    <a:lumOff val="5000"/>
                  </a:schemeClr>
                </a:solidFill>
                <a:latin typeface="Times New Roman"/>
                <a:cs typeface="Times New Roman"/>
              </a:rPr>
              <a:t>Accredited</a:t>
            </a:r>
            <a:r>
              <a:rPr sz="1200" b="1" spc="-10" dirty="0">
                <a:solidFill>
                  <a:schemeClr val="tx1">
                    <a:lumMod val="95000"/>
                    <a:lumOff val="5000"/>
                  </a:schemeClr>
                </a:solidFill>
                <a:latin typeface="Times New Roman"/>
                <a:cs typeface="Times New Roman"/>
              </a:rPr>
              <a:t> </a:t>
            </a:r>
            <a:r>
              <a:rPr sz="1200" b="1" dirty="0">
                <a:solidFill>
                  <a:schemeClr val="tx1">
                    <a:lumMod val="95000"/>
                    <a:lumOff val="5000"/>
                  </a:schemeClr>
                </a:solidFill>
                <a:latin typeface="Times New Roman"/>
                <a:cs typeface="Times New Roman"/>
              </a:rPr>
              <a:t>by</a:t>
            </a:r>
            <a:r>
              <a:rPr sz="1200" b="1" spc="-20" dirty="0">
                <a:solidFill>
                  <a:schemeClr val="tx1">
                    <a:lumMod val="95000"/>
                    <a:lumOff val="5000"/>
                  </a:schemeClr>
                </a:solidFill>
                <a:latin typeface="Times New Roman"/>
                <a:cs typeface="Times New Roman"/>
              </a:rPr>
              <a:t> </a:t>
            </a:r>
            <a:r>
              <a:rPr sz="1200" b="1" spc="-10" dirty="0">
                <a:solidFill>
                  <a:schemeClr val="tx1">
                    <a:lumMod val="95000"/>
                    <a:lumOff val="5000"/>
                  </a:schemeClr>
                </a:solidFill>
                <a:latin typeface="Times New Roman"/>
                <a:cs typeface="Times New Roman"/>
              </a:rPr>
              <a:t>NACC </a:t>
            </a:r>
            <a:r>
              <a:rPr sz="1200" b="1" spc="-5" dirty="0">
                <a:latin typeface="Times New Roman"/>
                <a:cs typeface="Times New Roman"/>
              </a:rPr>
              <a:t>Itikalapalli(v),</a:t>
            </a:r>
            <a:r>
              <a:rPr sz="1200" b="1" spc="-2" dirty="0">
                <a:latin typeface="Times New Roman"/>
                <a:cs typeface="Times New Roman"/>
              </a:rPr>
              <a:t> </a:t>
            </a:r>
            <a:r>
              <a:rPr sz="1200" b="1" dirty="0">
                <a:latin typeface="Times New Roman"/>
                <a:cs typeface="Times New Roman"/>
              </a:rPr>
              <a:t>Near</a:t>
            </a:r>
            <a:r>
              <a:rPr sz="1200" b="1" spc="-8" dirty="0">
                <a:latin typeface="Times New Roman"/>
                <a:cs typeface="Times New Roman"/>
              </a:rPr>
              <a:t> </a:t>
            </a:r>
            <a:r>
              <a:rPr sz="1200" b="1" dirty="0">
                <a:latin typeface="Times New Roman"/>
                <a:cs typeface="Times New Roman"/>
              </a:rPr>
              <a:t>S.K.</a:t>
            </a:r>
            <a:r>
              <a:rPr sz="1200" b="1" spc="-2" dirty="0">
                <a:latin typeface="Times New Roman"/>
                <a:cs typeface="Times New Roman"/>
              </a:rPr>
              <a:t> </a:t>
            </a:r>
            <a:r>
              <a:rPr sz="1200" b="1" dirty="0">
                <a:latin typeface="Times New Roman"/>
                <a:cs typeface="Times New Roman"/>
              </a:rPr>
              <a:t>University</a:t>
            </a:r>
            <a:r>
              <a:rPr sz="1200" b="1" spc="-2" dirty="0">
                <a:latin typeface="Times New Roman"/>
                <a:cs typeface="Times New Roman"/>
              </a:rPr>
              <a:t> </a:t>
            </a:r>
            <a:r>
              <a:rPr sz="1200" b="1" dirty="0">
                <a:latin typeface="Times New Roman"/>
                <a:cs typeface="Times New Roman"/>
              </a:rPr>
              <a:t>Anantapur</a:t>
            </a:r>
            <a:r>
              <a:rPr sz="1200" b="1" spc="2" dirty="0">
                <a:latin typeface="Times New Roman"/>
                <a:cs typeface="Times New Roman"/>
              </a:rPr>
              <a:t> </a:t>
            </a:r>
            <a:r>
              <a:rPr sz="1200" b="1" dirty="0">
                <a:latin typeface="Times New Roman"/>
                <a:cs typeface="Times New Roman"/>
              </a:rPr>
              <a:t>–</a:t>
            </a:r>
            <a:r>
              <a:rPr sz="1200" b="1" spc="-2" dirty="0">
                <a:latin typeface="Times New Roman"/>
                <a:cs typeface="Times New Roman"/>
              </a:rPr>
              <a:t> </a:t>
            </a:r>
            <a:r>
              <a:rPr sz="1200" b="1" dirty="0">
                <a:latin typeface="Times New Roman"/>
                <a:cs typeface="Times New Roman"/>
              </a:rPr>
              <a:t>515721</a:t>
            </a:r>
            <a:r>
              <a:rPr sz="1200" b="1" spc="-2" dirty="0">
                <a:latin typeface="Times New Roman"/>
                <a:cs typeface="Times New Roman"/>
              </a:rPr>
              <a:t> </a:t>
            </a:r>
            <a:r>
              <a:rPr sz="1200" b="1" dirty="0">
                <a:latin typeface="Times New Roman"/>
                <a:cs typeface="Times New Roman"/>
              </a:rPr>
              <a:t>Andhra</a:t>
            </a:r>
            <a:r>
              <a:rPr sz="1200" b="1" spc="-2" dirty="0">
                <a:latin typeface="Times New Roman"/>
                <a:cs typeface="Times New Roman"/>
              </a:rPr>
              <a:t> </a:t>
            </a:r>
            <a:r>
              <a:rPr sz="1200" b="1" spc="-5" dirty="0">
                <a:latin typeface="Times New Roman"/>
                <a:cs typeface="Times New Roman"/>
              </a:rPr>
              <a:t>Pradesh</a:t>
            </a:r>
            <a:r>
              <a:rPr sz="577" b="1" spc="-5" dirty="0">
                <a:latin typeface="Times New Roman"/>
                <a:cs typeface="Times New Roman"/>
              </a:rPr>
              <a:t>.</a:t>
            </a:r>
            <a:endParaRPr sz="577"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3A50F-7285-AAA3-1E87-4CB16E53B1BE}"/>
              </a:ext>
            </a:extLst>
          </p:cNvPr>
          <p:cNvSpPr>
            <a:spLocks noGrp="1"/>
          </p:cNvSpPr>
          <p:nvPr>
            <p:ph type="title"/>
          </p:nvPr>
        </p:nvSpPr>
        <p:spPr>
          <a:xfrm>
            <a:off x="1818968" y="688258"/>
            <a:ext cx="8220382" cy="717755"/>
          </a:xfrm>
        </p:spPr>
        <p:txBody>
          <a:bodyPr>
            <a:normAutofit/>
          </a:bodyPr>
          <a:lstStyle/>
          <a:p>
            <a:r>
              <a:rPr lang="en-US" sz="4000" dirty="0">
                <a:solidFill>
                  <a:schemeClr val="accent2"/>
                </a:solidFill>
                <a:latin typeface="Times New Roman" panose="02020603050405020304" pitchFamily="18" charset="0"/>
                <a:cs typeface="Times New Roman" panose="02020603050405020304" pitchFamily="18" charset="0"/>
              </a:rPr>
              <a:t>ABSTRACT:</a:t>
            </a:r>
            <a:endParaRPr lang="en-IN" sz="4000"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2D37F7-4B42-64B8-A0B3-C5257C6CB6DE}"/>
              </a:ext>
            </a:extLst>
          </p:cNvPr>
          <p:cNvSpPr>
            <a:spLocks noGrp="1"/>
          </p:cNvSpPr>
          <p:nvPr>
            <p:ph idx="1"/>
          </p:nvPr>
        </p:nvSpPr>
        <p:spPr>
          <a:xfrm>
            <a:off x="1818968" y="1799303"/>
            <a:ext cx="9045676" cy="3927603"/>
          </a:xfrm>
        </p:spPr>
        <p:txBody>
          <a:bodyPr>
            <a:normAutofit/>
          </a:bodyPr>
          <a:lstStyle/>
          <a:p>
            <a:pPr algn="just"/>
            <a:r>
              <a:rPr lang="en-IN" sz="2400" dirty="0">
                <a:latin typeface="Times New Roman" panose="02020603050405020304" pitchFamily="18" charset="0"/>
                <a:cs typeface="Times New Roman" panose="02020603050405020304" pitchFamily="18" charset="0"/>
              </a:rPr>
              <a:t>MEDICUS – Trusted Drug &amp; Medicine Guide is a comprehensive, evidence-based digital platform designed to provide reliable, up-to-date information on drugs, medications, and therapeutic guidelines for healthcare professionals, pharmacists, and patients. With an emphasis on accuracy, accessibility, and trust, MEDICUS offers detailed drug monographs, dosage calculators, interaction checkers, and clinical decision support tools. The guide integrates the latest research, regulatory updates, and clinical best practices to assist users in making informed decisions about medication use and management</a:t>
            </a:r>
            <a:r>
              <a:rPr lang="en-IN" sz="2400" dirty="0"/>
              <a:t>.</a:t>
            </a:r>
            <a:endParaRPr lang="en-IN" sz="2400" dirty="0">
              <a:latin typeface="Calibri" panose="020F0502020204030204" pitchFamily="34" charset="0"/>
              <a:ea typeface="Calibri" panose="020F0502020204030204" pitchFamily="34" charset="0"/>
            </a:endParaRPr>
          </a:p>
          <a:p>
            <a:pPr algn="just"/>
            <a:endParaRPr lang="en-IN" dirty="0"/>
          </a:p>
        </p:txBody>
      </p:sp>
    </p:spTree>
    <p:extLst>
      <p:ext uri="{BB962C8B-B14F-4D97-AF65-F5344CB8AC3E}">
        <p14:creationId xmlns:p14="http://schemas.microsoft.com/office/powerpoint/2010/main" val="720168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97A37-CE25-D318-E3B9-D9E1EA59A099}"/>
              </a:ext>
            </a:extLst>
          </p:cNvPr>
          <p:cNvSpPr>
            <a:spLocks noGrp="1"/>
          </p:cNvSpPr>
          <p:nvPr>
            <p:ph type="ctrTitle"/>
          </p:nvPr>
        </p:nvSpPr>
        <p:spPr>
          <a:xfrm>
            <a:off x="1563328" y="953730"/>
            <a:ext cx="8858865" cy="668594"/>
          </a:xfrm>
        </p:spPr>
        <p:txBody>
          <a:bodyPr>
            <a:noAutofit/>
          </a:bodyPr>
          <a:lstStyle/>
          <a:p>
            <a:r>
              <a:rPr lang="en-US" sz="4000" dirty="0">
                <a:solidFill>
                  <a:schemeClr val="accent4">
                    <a:lumMod val="75000"/>
                  </a:schemeClr>
                </a:solidFill>
                <a:latin typeface="Times New Roman" panose="02020603050405020304" pitchFamily="18" charset="0"/>
                <a:cs typeface="Times New Roman" panose="02020603050405020304" pitchFamily="18" charset="0"/>
              </a:rPr>
              <a:t>CONCEPTUAL FRAMEWORK:</a:t>
            </a:r>
            <a:endParaRPr lang="en-IN" sz="4000"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D44399D-F600-1F12-EE4A-CAE8AAD514A1}"/>
              </a:ext>
            </a:extLst>
          </p:cNvPr>
          <p:cNvSpPr>
            <a:spLocks noGrp="1"/>
          </p:cNvSpPr>
          <p:nvPr>
            <p:ph type="subTitle" idx="1"/>
          </p:nvPr>
        </p:nvSpPr>
        <p:spPr>
          <a:xfrm>
            <a:off x="1769806" y="2177231"/>
            <a:ext cx="8858865" cy="4253066"/>
          </a:xfrm>
        </p:spPr>
        <p:txBody>
          <a:bodyPr>
            <a:noAutofit/>
          </a:bodyPr>
          <a:lstStyle/>
          <a:p>
            <a:pPr algn="l"/>
            <a:r>
              <a:rPr lang="en-US" sz="2000" dirty="0">
                <a:latin typeface="Times New Roman" panose="02020603050405020304" pitchFamily="18" charset="0"/>
                <a:cs typeface="Times New Roman" panose="02020603050405020304" pitchFamily="18" charset="0"/>
              </a:rPr>
              <a:t>Conceptual Framework MEDICUS operates on the principle of Medical Information Democratization - making reliable drug and medicine information accessible to everyone through an intelligent, user-friendly interface.</a:t>
            </a:r>
          </a:p>
          <a:p>
            <a:pPr algn="l"/>
            <a:r>
              <a:rPr lang="en-IN" dirty="0">
                <a:solidFill>
                  <a:schemeClr val="accent6"/>
                </a:solidFill>
                <a:latin typeface="Times New Roman" panose="02020603050405020304" pitchFamily="18" charset="0"/>
                <a:cs typeface="Times New Roman" panose="02020603050405020304" pitchFamily="18" charset="0"/>
              </a:rPr>
              <a:t>Core Theoretical Concepts:</a:t>
            </a:r>
          </a:p>
          <a:p>
            <a:pPr algn="l"/>
            <a:r>
              <a:rPr lang="en-IN" sz="2000" dirty="0">
                <a:solidFill>
                  <a:schemeClr val="accent5">
                    <a:lumMod val="50000"/>
                  </a:schemeClr>
                </a:solidFill>
                <a:latin typeface="Times New Roman" panose="02020603050405020304" pitchFamily="18" charset="0"/>
                <a:cs typeface="Times New Roman" panose="02020603050405020304" pitchFamily="18" charset="0"/>
              </a:rPr>
              <a:t>Health Literacy Theory</a:t>
            </a:r>
            <a:r>
              <a:rPr lang="en-IN" sz="2000" dirty="0">
                <a:latin typeface="Times New Roman" panose="02020603050405020304" pitchFamily="18" charset="0"/>
                <a:cs typeface="Times New Roman" panose="02020603050405020304" pitchFamily="18" charset="0"/>
              </a:rPr>
              <a:t>: Bridging the gap between medical terminology and public understanding.</a:t>
            </a:r>
          </a:p>
          <a:p>
            <a:pPr algn="l"/>
            <a:r>
              <a:rPr lang="en-IN" sz="2000" dirty="0">
                <a:solidFill>
                  <a:schemeClr val="accent5">
                    <a:lumMod val="50000"/>
                  </a:schemeClr>
                </a:solidFill>
                <a:latin typeface="Times New Roman" panose="02020603050405020304" pitchFamily="18" charset="0"/>
                <a:cs typeface="Times New Roman" panose="02020603050405020304" pitchFamily="18" charset="0"/>
              </a:rPr>
              <a:t>Fuzzy Logic in Medicine</a:t>
            </a:r>
            <a:r>
              <a:rPr lang="en-IN" sz="2000" dirty="0">
                <a:latin typeface="Times New Roman" panose="02020603050405020304" pitchFamily="18" charset="0"/>
                <a:cs typeface="Times New Roman" panose="02020603050405020304" pitchFamily="18" charset="0"/>
              </a:rPr>
              <a:t>: Implementing approximate reasoning for symptom-disease matching.</a:t>
            </a:r>
          </a:p>
          <a:p>
            <a:pPr algn="l"/>
            <a:r>
              <a:rPr lang="en-IN" sz="2000" dirty="0">
                <a:solidFill>
                  <a:schemeClr val="accent5">
                    <a:lumMod val="50000"/>
                  </a:schemeClr>
                </a:solidFill>
                <a:latin typeface="Times New Roman" panose="02020603050405020304" pitchFamily="18" charset="0"/>
                <a:cs typeface="Times New Roman" panose="02020603050405020304" pitchFamily="18" charset="0"/>
              </a:rPr>
              <a:t>Human-Computer Interaction</a:t>
            </a:r>
            <a:r>
              <a:rPr lang="en-IN" sz="2000" dirty="0">
                <a:latin typeface="Times New Roman" panose="02020603050405020304" pitchFamily="18" charset="0"/>
                <a:cs typeface="Times New Roman" panose="02020603050405020304" pitchFamily="18" charset="0"/>
              </a:rPr>
              <a:t>: Designing for accessibility through multimodal input (voice/text).</a:t>
            </a:r>
          </a:p>
          <a:p>
            <a:pPr algn="l"/>
            <a:r>
              <a:rPr lang="en-IN" sz="2000" dirty="0">
                <a:solidFill>
                  <a:schemeClr val="accent5">
                    <a:lumMod val="50000"/>
                  </a:schemeClr>
                </a:solidFill>
                <a:latin typeface="Times New Roman" panose="02020603050405020304" pitchFamily="18" charset="0"/>
                <a:cs typeface="Times New Roman" panose="02020603050405020304" pitchFamily="18" charset="0"/>
              </a:rPr>
              <a:t>Information Retrieval Theory: </a:t>
            </a:r>
            <a:r>
              <a:rPr lang="en-IN" sz="2000" dirty="0">
                <a:latin typeface="Times New Roman" panose="02020603050405020304" pitchFamily="18" charset="0"/>
                <a:cs typeface="Times New Roman" panose="02020603050405020304" pitchFamily="18" charset="0"/>
              </a:rPr>
              <a:t>Efficient matching of user queries with medical database.</a:t>
            </a:r>
          </a:p>
        </p:txBody>
      </p:sp>
    </p:spTree>
    <p:extLst>
      <p:ext uri="{BB962C8B-B14F-4D97-AF65-F5344CB8AC3E}">
        <p14:creationId xmlns:p14="http://schemas.microsoft.com/office/powerpoint/2010/main" val="2333810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31996-8236-57A6-6B01-18CD82DF4A1B}"/>
              </a:ext>
            </a:extLst>
          </p:cNvPr>
          <p:cNvSpPr>
            <a:spLocks noGrp="1"/>
          </p:cNvSpPr>
          <p:nvPr>
            <p:ph type="ctrTitle"/>
          </p:nvPr>
        </p:nvSpPr>
        <p:spPr>
          <a:xfrm>
            <a:off x="1494503" y="619432"/>
            <a:ext cx="9271819" cy="806245"/>
          </a:xfrm>
        </p:spPr>
        <p:txBody>
          <a:bodyPr>
            <a:noAutofit/>
          </a:bodyPr>
          <a:lstStyle/>
          <a:p>
            <a:r>
              <a:rPr lang="en-IN" sz="4000" dirty="0">
                <a:solidFill>
                  <a:schemeClr val="accent4">
                    <a:lumMod val="75000"/>
                  </a:schemeClr>
                </a:solidFill>
                <a:latin typeface="Times New Roman" panose="02020603050405020304" pitchFamily="18" charset="0"/>
                <a:cs typeface="Times New Roman" panose="02020603050405020304" pitchFamily="18" charset="0"/>
              </a:rPr>
              <a:t>KNOWLEDGE REPRESENTATION:</a:t>
            </a:r>
          </a:p>
        </p:txBody>
      </p:sp>
      <p:sp>
        <p:nvSpPr>
          <p:cNvPr id="3" name="Subtitle 2">
            <a:extLst>
              <a:ext uri="{FF2B5EF4-FFF2-40B4-BE49-F238E27FC236}">
                <a16:creationId xmlns:a16="http://schemas.microsoft.com/office/drawing/2014/main" id="{D1AFDF55-2EDE-D6DD-CDF9-4223DE51A0C6}"/>
              </a:ext>
            </a:extLst>
          </p:cNvPr>
          <p:cNvSpPr>
            <a:spLocks noGrp="1"/>
          </p:cNvSpPr>
          <p:nvPr>
            <p:ph type="subTitle" idx="1"/>
          </p:nvPr>
        </p:nvSpPr>
        <p:spPr>
          <a:xfrm>
            <a:off x="1651819" y="2051868"/>
            <a:ext cx="10058400" cy="4339100"/>
          </a:xfrm>
        </p:spPr>
        <p:txBody>
          <a:bodyPr>
            <a:normAutofit/>
          </a:bodyPr>
          <a:lstStyle/>
          <a:p>
            <a:pPr algn="l"/>
            <a:r>
              <a:rPr lang="en-US" dirty="0">
                <a:solidFill>
                  <a:schemeClr val="accent6"/>
                </a:solidFill>
                <a:latin typeface="Times New Roman" panose="02020603050405020304" pitchFamily="18" charset="0"/>
                <a:cs typeface="Times New Roman" panose="02020603050405020304" pitchFamily="18" charset="0"/>
              </a:rPr>
              <a:t>The system utilizes a structured medical ontology with:-</a:t>
            </a:r>
          </a:p>
          <a:p>
            <a:pPr algn="l"/>
            <a:r>
              <a:rPr lang="en-US" sz="22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Disease-Symptom relationships- Medicine-Disease correlations- Drug classification hierarchy- Side effect and contraindication mapping.</a:t>
            </a:r>
          </a:p>
          <a:p>
            <a:pPr algn="l"/>
            <a:r>
              <a:rPr lang="en-US" dirty="0">
                <a:solidFill>
                  <a:schemeClr val="accent6"/>
                </a:solidFill>
                <a:latin typeface="Times New Roman" panose="02020603050405020304" pitchFamily="18" charset="0"/>
                <a:cs typeface="Times New Roman" panose="02020603050405020304" pitchFamily="18" charset="0"/>
              </a:rPr>
              <a:t>Step-by-Step Theoretical Process: </a:t>
            </a:r>
          </a:p>
          <a:p>
            <a:pPr algn="l"/>
            <a:r>
              <a:rPr lang="en-US" sz="2000" dirty="0">
                <a:latin typeface="Times New Roman" panose="02020603050405020304" pitchFamily="18" charset="0"/>
                <a:cs typeface="Times New Roman" panose="02020603050405020304" pitchFamily="18" charset="0"/>
              </a:rPr>
              <a:t>Problem Identification &amp; ResearchTheoretical Basis:</a:t>
            </a:r>
          </a:p>
          <a:p>
            <a:pPr algn="l"/>
            <a:r>
              <a:rPr lang="en-US" sz="2000" dirty="0">
                <a:latin typeface="Times New Roman" panose="02020603050405020304" pitchFamily="18" charset="0"/>
                <a:cs typeface="Times New Roman" panose="02020603050405020304" pitchFamily="18" charset="0"/>
              </a:rPr>
              <a:t>Needs Assessment Theory</a:t>
            </a:r>
          </a:p>
          <a:p>
            <a:pPr marL="342900" indent="-342900" algn="l">
              <a:buAutoNum type="arabicPeriod"/>
            </a:pPr>
            <a:r>
              <a:rPr lang="en-US" sz="2000" dirty="0">
                <a:latin typeface="Times New Roman" panose="02020603050405020304" pitchFamily="18" charset="0"/>
                <a:cs typeface="Times New Roman" panose="02020603050405020304" pitchFamily="18" charset="0"/>
              </a:rPr>
              <a:t>Market Research: Identified gaps in accessible medical information.</a:t>
            </a:r>
          </a:p>
          <a:p>
            <a:pPr marL="342900" indent="-342900" algn="l">
              <a:buAutoNum type="arabicPeriod"/>
            </a:pPr>
            <a:r>
              <a:rPr lang="en-US" sz="2000" dirty="0">
                <a:latin typeface="Times New Roman" panose="02020603050405020304" pitchFamily="18" charset="0"/>
                <a:cs typeface="Times New Roman" panose="02020603050405020304" pitchFamily="18" charset="0"/>
              </a:rPr>
              <a:t>User Persona Development: Created archetypes of potential users.</a:t>
            </a:r>
          </a:p>
          <a:p>
            <a:pPr marL="342900" indent="-342900" algn="l">
              <a:buAutoNum type="arabicPeriod"/>
            </a:pPr>
            <a:r>
              <a:rPr lang="en-US" sz="2000" dirty="0">
                <a:latin typeface="Times New Roman" panose="02020603050405020304" pitchFamily="18" charset="0"/>
                <a:cs typeface="Times New Roman" panose="02020603050405020304" pitchFamily="18" charset="0"/>
              </a:rPr>
              <a:t>Literature Review: Studied existing medical information systems.</a:t>
            </a:r>
          </a:p>
          <a:p>
            <a:pPr marL="342900" indent="-342900" algn="l">
              <a:buAutoNum type="arabicPeriod"/>
            </a:pPr>
            <a:r>
              <a:rPr lang="en-US" sz="2000" dirty="0">
                <a:latin typeface="Times New Roman" panose="02020603050405020304" pitchFamily="18" charset="0"/>
                <a:cs typeface="Times New Roman" panose="02020603050405020304" pitchFamily="18" charset="0"/>
              </a:rPr>
              <a:t>Gap Analysis: Identified shortcomings in current solutions.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8366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CF2DF-2219-AD1B-6239-84B0616BCBD5}"/>
              </a:ext>
            </a:extLst>
          </p:cNvPr>
          <p:cNvSpPr>
            <a:spLocks noGrp="1"/>
          </p:cNvSpPr>
          <p:nvPr>
            <p:ph type="title"/>
          </p:nvPr>
        </p:nvSpPr>
        <p:spPr>
          <a:xfrm>
            <a:off x="1602658" y="658761"/>
            <a:ext cx="8544232" cy="1150374"/>
          </a:xfrm>
        </p:spPr>
        <p:txBody>
          <a:bodyPr>
            <a:normAutofit/>
          </a:bodyPr>
          <a:lstStyle/>
          <a:p>
            <a:r>
              <a:rPr lang="en-IN" dirty="0"/>
              <a:t> </a:t>
            </a:r>
            <a:r>
              <a:rPr lang="en-IN" sz="4000" dirty="0">
                <a:solidFill>
                  <a:schemeClr val="accent2"/>
                </a:solidFill>
                <a:latin typeface="Times New Roman" panose="02020603050405020304" pitchFamily="18" charset="0"/>
                <a:cs typeface="Times New Roman" panose="02020603050405020304" pitchFamily="18" charset="0"/>
              </a:rPr>
              <a:t>THEORETICAL MODELS APPLIED:</a:t>
            </a:r>
          </a:p>
        </p:txBody>
      </p:sp>
      <p:sp>
        <p:nvSpPr>
          <p:cNvPr id="3" name="Content Placeholder 2">
            <a:extLst>
              <a:ext uri="{FF2B5EF4-FFF2-40B4-BE49-F238E27FC236}">
                <a16:creationId xmlns:a16="http://schemas.microsoft.com/office/drawing/2014/main" id="{4DC90474-0430-53F0-1856-A7613DA999D4}"/>
              </a:ext>
            </a:extLst>
          </p:cNvPr>
          <p:cNvSpPr>
            <a:spLocks noGrp="1"/>
          </p:cNvSpPr>
          <p:nvPr>
            <p:ph idx="1"/>
          </p:nvPr>
        </p:nvSpPr>
        <p:spPr>
          <a:xfrm>
            <a:off x="1602658" y="2379405"/>
            <a:ext cx="9379974" cy="4060723"/>
          </a:xfrm>
        </p:spPr>
        <p:txBody>
          <a:bodyPr>
            <a:normAutofit/>
          </a:bodyPr>
          <a:lstStyle/>
          <a:p>
            <a:r>
              <a:rPr lang="en-IN" sz="1800" dirty="0">
                <a:solidFill>
                  <a:schemeClr val="accent1">
                    <a:lumMod val="50000"/>
                  </a:schemeClr>
                </a:solidFill>
                <a:latin typeface="Times New Roman" panose="02020603050405020304" pitchFamily="18" charset="0"/>
                <a:cs typeface="Times New Roman" panose="02020603050405020304" pitchFamily="18" charset="0"/>
              </a:rPr>
              <a:t> </a:t>
            </a:r>
            <a:r>
              <a:rPr lang="en-IN" sz="2400" dirty="0">
                <a:solidFill>
                  <a:schemeClr val="accent1">
                    <a:lumMod val="50000"/>
                  </a:schemeClr>
                </a:solidFill>
                <a:latin typeface="Times New Roman" panose="02020603050405020304" pitchFamily="18" charset="0"/>
                <a:cs typeface="Times New Roman" panose="02020603050405020304" pitchFamily="18" charset="0"/>
              </a:rPr>
              <a:t>1. Information Processing Model:</a:t>
            </a:r>
          </a:p>
          <a:p>
            <a:r>
              <a:rPr lang="en-IN" sz="2000" dirty="0">
                <a:latin typeface="Times New Roman" panose="02020603050405020304" pitchFamily="18" charset="0"/>
                <a:cs typeface="Times New Roman" panose="02020603050405020304" pitchFamily="18" charset="0"/>
              </a:rPr>
              <a:t>User Input → Preprocessing → Pattern Recognition → Knowledge Retrieval → Response Generation → Output.</a:t>
            </a:r>
          </a:p>
          <a:p>
            <a:r>
              <a:rPr lang="en-IN" sz="2400" dirty="0">
                <a:solidFill>
                  <a:schemeClr val="accent1">
                    <a:lumMod val="50000"/>
                  </a:schemeClr>
                </a:solidFill>
                <a:latin typeface="Times New Roman" panose="02020603050405020304" pitchFamily="18" charset="0"/>
                <a:cs typeface="Times New Roman" panose="02020603050405020304" pitchFamily="18" charset="0"/>
              </a:rPr>
              <a:t>2. Medical Decision-Making Model:</a:t>
            </a:r>
          </a:p>
          <a:p>
            <a:r>
              <a:rPr lang="en-IN" sz="2200" dirty="0">
                <a:latin typeface="Times New Roman" panose="02020603050405020304" pitchFamily="18" charset="0"/>
                <a:cs typeface="Times New Roman" panose="02020603050405020304" pitchFamily="18" charset="0"/>
              </a:rPr>
              <a:t>Symptom Input → Differential Diagnosis → Evidence-Based Matching → Risk Assessment → Recommendation Generation.</a:t>
            </a:r>
          </a:p>
          <a:p>
            <a:r>
              <a:rPr lang="en-IN" sz="2400" dirty="0">
                <a:solidFill>
                  <a:schemeClr val="accent1">
                    <a:lumMod val="50000"/>
                  </a:schemeClr>
                </a:solidFill>
                <a:latin typeface="Times New Roman" panose="02020603050405020304" pitchFamily="18" charset="0"/>
                <a:cs typeface="Times New Roman" panose="02020603050405020304" pitchFamily="18" charset="0"/>
              </a:rPr>
              <a:t> 3. User Experience Model:</a:t>
            </a:r>
          </a:p>
          <a:p>
            <a:r>
              <a:rPr lang="en-US" sz="2000" dirty="0">
                <a:latin typeface="Times New Roman" panose="02020603050405020304" pitchFamily="18" charset="0"/>
                <a:cs typeface="Times New Roman" panose="02020603050405020304" pitchFamily="18" charset="0"/>
              </a:rPr>
              <a:t>Need Recognition → Interface Interaction → Information Processing → Knowledge Acquisition → Action Taking</a:t>
            </a:r>
            <a:r>
              <a:rPr lang="en-US" sz="2000" dirty="0"/>
              <a:t>.</a:t>
            </a:r>
            <a:endParaRPr lang="en-IN" sz="2000" dirty="0"/>
          </a:p>
        </p:txBody>
      </p:sp>
    </p:spTree>
    <p:extLst>
      <p:ext uri="{BB962C8B-B14F-4D97-AF65-F5344CB8AC3E}">
        <p14:creationId xmlns:p14="http://schemas.microsoft.com/office/powerpoint/2010/main" val="761869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20A5A-743E-6743-0DC7-31C014E28E99}"/>
              </a:ext>
            </a:extLst>
          </p:cNvPr>
          <p:cNvSpPr>
            <a:spLocks noGrp="1"/>
          </p:cNvSpPr>
          <p:nvPr>
            <p:ph type="title"/>
          </p:nvPr>
        </p:nvSpPr>
        <p:spPr>
          <a:xfrm>
            <a:off x="1651819" y="580103"/>
            <a:ext cx="8416413" cy="1032387"/>
          </a:xfrm>
        </p:spPr>
        <p:txBody>
          <a:bodyPr>
            <a:noAutofit/>
          </a:bodyPr>
          <a:lstStyle/>
          <a:p>
            <a:r>
              <a:rPr lang="en-IN" sz="4000" dirty="0">
                <a:solidFill>
                  <a:schemeClr val="accent2"/>
                </a:solidFill>
                <a:latin typeface="Times New Roman" panose="02020603050405020304" pitchFamily="18" charset="0"/>
                <a:cs typeface="Times New Roman" panose="02020603050405020304" pitchFamily="18" charset="0"/>
              </a:rPr>
              <a:t>SCIENTIFIC PRINCIPLES:</a:t>
            </a:r>
            <a:endParaRPr lang="en-IN" sz="4000"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625E8B-4612-BFBF-FB21-F6A5068063D9}"/>
              </a:ext>
            </a:extLst>
          </p:cNvPr>
          <p:cNvSpPr>
            <a:spLocks noGrp="1"/>
          </p:cNvSpPr>
          <p:nvPr>
            <p:ph idx="1"/>
          </p:nvPr>
        </p:nvSpPr>
        <p:spPr>
          <a:xfrm>
            <a:off x="1651819" y="2132986"/>
            <a:ext cx="9468465" cy="3963014"/>
          </a:xfrm>
        </p:spPr>
        <p:txBody>
          <a:bodyPr>
            <a:normAutofit/>
          </a:bodyPr>
          <a:lstStyle/>
          <a:p>
            <a:pPr marL="0" indent="0">
              <a:buNone/>
            </a:pPr>
            <a:r>
              <a:rPr lang="en-IN" sz="2400" dirty="0">
                <a:solidFill>
                  <a:schemeClr val="accent1">
                    <a:lumMod val="50000"/>
                  </a:schemeClr>
                </a:solidFill>
                <a:latin typeface="Times New Roman" panose="02020603050405020304" pitchFamily="18" charset="0"/>
                <a:cs typeface="Times New Roman" panose="02020603050405020304" pitchFamily="18" charset="0"/>
              </a:rPr>
              <a:t>1. Cognitive Load Theory:</a:t>
            </a:r>
          </a:p>
          <a:p>
            <a:pPr marL="0" indent="0">
              <a:buNone/>
            </a:pPr>
            <a:r>
              <a:rPr lang="en-US" sz="1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Implemented progressive information disclosure- Used visual aids for complex information- Maintained consistent interface patterns.</a:t>
            </a:r>
          </a:p>
          <a:p>
            <a:pPr marL="0" indent="0">
              <a:buNone/>
            </a:pPr>
            <a:r>
              <a:rPr lang="en-IN" sz="2400" dirty="0">
                <a:solidFill>
                  <a:schemeClr val="accent1">
                    <a:lumMod val="50000"/>
                  </a:schemeClr>
                </a:solidFill>
                <a:latin typeface="Times New Roman" panose="02020603050405020304" pitchFamily="18" charset="0"/>
                <a:cs typeface="Times New Roman" panose="02020603050405020304" pitchFamily="18" charset="0"/>
              </a:rPr>
              <a:t>2. Health Belief Model:</a:t>
            </a:r>
          </a:p>
          <a:p>
            <a:pPr>
              <a:buFontTx/>
              <a:buChar char="-"/>
            </a:pPr>
            <a:r>
              <a:rPr lang="en-US" sz="2000" dirty="0">
                <a:latin typeface="Times New Roman" panose="02020603050405020304" pitchFamily="18" charset="0"/>
                <a:cs typeface="Times New Roman" panose="02020603050405020304" pitchFamily="18" charset="0"/>
              </a:rPr>
              <a:t>Designed to increase perceived benefits of medical knowledge- Reduced barriers to information access- Provided actionable recommendations</a:t>
            </a:r>
            <a:r>
              <a:rPr lang="en-US" sz="1800" dirty="0">
                <a:latin typeface="Times New Roman" panose="02020603050405020304" pitchFamily="18" charset="0"/>
                <a:cs typeface="Times New Roman" panose="02020603050405020304" pitchFamily="18" charset="0"/>
              </a:rPr>
              <a:t>.</a:t>
            </a:r>
          </a:p>
          <a:p>
            <a:pPr marL="0" indent="0">
              <a:buNone/>
            </a:pPr>
            <a:r>
              <a:rPr lang="en-IN" sz="2400" dirty="0">
                <a:solidFill>
                  <a:schemeClr val="accent1">
                    <a:lumMod val="50000"/>
                  </a:schemeClr>
                </a:solidFill>
                <a:latin typeface="Times New Roman" panose="02020603050405020304" pitchFamily="18" charset="0"/>
                <a:cs typeface="Times New Roman" panose="02020603050405020304" pitchFamily="18" charset="0"/>
              </a:rPr>
              <a:t>3. Technology Acceptance Model:</a:t>
            </a:r>
          </a:p>
          <a:p>
            <a:pPr marL="0" indent="0">
              <a:buNone/>
            </a:pPr>
            <a:r>
              <a:rPr lang="en-US" sz="2200" dirty="0">
                <a:latin typeface="Times New Roman" panose="02020603050405020304" pitchFamily="18" charset="0"/>
                <a:cs typeface="Times New Roman" panose="02020603050405020304" pitchFamily="18" charset="0"/>
              </a:rPr>
              <a:t>- Focus on perceived usefulness and ease of use- Implemented familiar interaction patterns- Provided immediate value demonstration.</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76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2352D-5AE8-98D3-873B-A0330521E6AC}"/>
              </a:ext>
            </a:extLst>
          </p:cNvPr>
          <p:cNvSpPr>
            <a:spLocks noGrp="1"/>
          </p:cNvSpPr>
          <p:nvPr>
            <p:ph type="title"/>
          </p:nvPr>
        </p:nvSpPr>
        <p:spPr>
          <a:xfrm>
            <a:off x="1691148" y="540773"/>
            <a:ext cx="7678994" cy="688259"/>
          </a:xfrm>
        </p:spPr>
        <p:txBody>
          <a:bodyPr>
            <a:noAutofit/>
          </a:bodyPr>
          <a:lstStyle/>
          <a:p>
            <a:r>
              <a:rPr lang="en-IN" sz="4000" dirty="0">
                <a:solidFill>
                  <a:schemeClr val="accent2"/>
                </a:solidFill>
                <a:latin typeface="Times New Roman" panose="02020603050405020304" pitchFamily="18" charset="0"/>
                <a:cs typeface="Times New Roman" panose="02020603050405020304" pitchFamily="18" charset="0"/>
              </a:rPr>
              <a:t>RESEARCH METHODOLOGY:</a:t>
            </a:r>
          </a:p>
        </p:txBody>
      </p:sp>
      <p:sp>
        <p:nvSpPr>
          <p:cNvPr id="3" name="Content Placeholder 2">
            <a:extLst>
              <a:ext uri="{FF2B5EF4-FFF2-40B4-BE49-F238E27FC236}">
                <a16:creationId xmlns:a16="http://schemas.microsoft.com/office/drawing/2014/main" id="{803592D6-BA2D-33C4-780D-5443ADCC3922}"/>
              </a:ext>
            </a:extLst>
          </p:cNvPr>
          <p:cNvSpPr>
            <a:spLocks noGrp="1"/>
          </p:cNvSpPr>
          <p:nvPr>
            <p:ph idx="1"/>
          </p:nvPr>
        </p:nvSpPr>
        <p:spPr>
          <a:xfrm>
            <a:off x="1887794" y="1376516"/>
            <a:ext cx="9753600" cy="5481484"/>
          </a:xfrm>
        </p:spPr>
        <p:txBody>
          <a:bodyPr>
            <a:normAutofit lnSpcReduction="10000"/>
          </a:bodyPr>
          <a:lstStyle/>
          <a:p>
            <a:pPr marL="0" indent="0">
              <a:buNone/>
            </a:pPr>
            <a:r>
              <a:rPr lang="en-US" sz="2400" dirty="0">
                <a:solidFill>
                  <a:schemeClr val="accent1">
                    <a:lumMod val="50000"/>
                  </a:schemeClr>
                </a:solidFill>
                <a:latin typeface="Times New Roman" panose="02020603050405020304" pitchFamily="18" charset="0"/>
                <a:cs typeface="Times New Roman" panose="02020603050405020304" pitchFamily="18" charset="0"/>
              </a:rPr>
              <a:t>1. Design Science Research:</a:t>
            </a:r>
          </a:p>
          <a:p>
            <a:r>
              <a:rPr lang="en-US" sz="2000" dirty="0">
                <a:latin typeface="Times New Roman" panose="02020603050405020304" pitchFamily="18" charset="0"/>
                <a:cs typeface="Times New Roman" panose="02020603050405020304" pitchFamily="18" charset="0"/>
              </a:rPr>
              <a:t>- Problem identification through literature review.</a:t>
            </a:r>
          </a:p>
          <a:p>
            <a:r>
              <a:rPr lang="en-US" sz="2000" dirty="0">
                <a:latin typeface="Times New Roman" panose="02020603050405020304" pitchFamily="18" charset="0"/>
                <a:cs typeface="Times New Roman" panose="02020603050405020304" pitchFamily="18" charset="0"/>
              </a:rPr>
              <a:t>- Solution design based on theoretical frameworks.</a:t>
            </a:r>
          </a:p>
          <a:p>
            <a:r>
              <a:rPr lang="en-US" sz="2000" dirty="0">
                <a:latin typeface="Times New Roman" panose="02020603050405020304" pitchFamily="18" charset="0"/>
                <a:cs typeface="Times New Roman" panose="02020603050405020304" pitchFamily="18" charset="0"/>
              </a:rPr>
              <a:t>- Development following research principles.</a:t>
            </a:r>
          </a:p>
          <a:p>
            <a:r>
              <a:rPr lang="en-US" sz="2000" dirty="0">
                <a:latin typeface="Times New Roman" panose="02020603050405020304" pitchFamily="18" charset="0"/>
                <a:cs typeface="Times New Roman" panose="02020603050405020304" pitchFamily="18" charset="0"/>
              </a:rPr>
              <a:t>- Evaluation through rigorous testing.</a:t>
            </a:r>
          </a:p>
          <a:p>
            <a:pPr marL="0" indent="0">
              <a:buNone/>
            </a:pPr>
            <a:r>
              <a:rPr lang="en-US" sz="2400" dirty="0">
                <a:solidFill>
                  <a:schemeClr val="accent1">
                    <a:lumMod val="50000"/>
                  </a:schemeClr>
                </a:solidFill>
                <a:latin typeface="Times New Roman" panose="02020603050405020304" pitchFamily="18" charset="0"/>
                <a:cs typeface="Times New Roman" panose="02020603050405020304" pitchFamily="18" charset="0"/>
              </a:rPr>
              <a:t>2. Evidence-Based Practice:</a:t>
            </a:r>
          </a:p>
          <a:p>
            <a:r>
              <a:rPr lang="en-US" sz="2000" dirty="0">
                <a:latin typeface="Times New Roman" panose="02020603050405020304" pitchFamily="18" charset="0"/>
                <a:cs typeface="Times New Roman" panose="02020603050405020304" pitchFamily="18" charset="0"/>
              </a:rPr>
              <a:t>-Medical information sourced from reputable databases.</a:t>
            </a:r>
          </a:p>
          <a:p>
            <a:r>
              <a:rPr lang="en-US" sz="2000" dirty="0">
                <a:latin typeface="Times New Roman" panose="02020603050405020304" pitchFamily="18" charset="0"/>
                <a:cs typeface="Times New Roman" panose="02020603050405020304" pitchFamily="18" charset="0"/>
              </a:rPr>
              <a:t>- Algorithm selection based on proven effectiveness.</a:t>
            </a:r>
          </a:p>
          <a:p>
            <a:r>
              <a:rPr lang="en-US" sz="2000" dirty="0">
                <a:latin typeface="Times New Roman" panose="02020603050405020304" pitchFamily="18" charset="0"/>
                <a:cs typeface="Times New Roman" panose="02020603050405020304" pitchFamily="18" charset="0"/>
              </a:rPr>
              <a:t>- Validation against established medical guidelines.</a:t>
            </a:r>
          </a:p>
          <a:p>
            <a:pPr marL="0" indent="0">
              <a:buNone/>
            </a:pPr>
            <a:r>
              <a:rPr lang="en-US" sz="2400" dirty="0">
                <a:solidFill>
                  <a:schemeClr val="accent1">
                    <a:lumMod val="50000"/>
                  </a:schemeClr>
                </a:solidFill>
                <a:latin typeface="Times New Roman" panose="02020603050405020304" pitchFamily="18" charset="0"/>
                <a:cs typeface="Times New Roman" panose="02020603050405020304" pitchFamily="18" charset="0"/>
              </a:rPr>
              <a:t>3. User-Centered Design:</a:t>
            </a:r>
          </a:p>
          <a:p>
            <a:r>
              <a:rPr lang="en-US" sz="15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Iterative design process.</a:t>
            </a:r>
          </a:p>
          <a:p>
            <a:r>
              <a:rPr lang="en-US" sz="2000" dirty="0">
                <a:latin typeface="Times New Roman" panose="02020603050405020304" pitchFamily="18" charset="0"/>
                <a:cs typeface="Times New Roman" panose="02020603050405020304" pitchFamily="18" charset="0"/>
              </a:rPr>
              <a:t>- Continuous feedback incorporation.</a:t>
            </a:r>
          </a:p>
          <a:p>
            <a:r>
              <a:rPr lang="en-US" sz="2000" dirty="0">
                <a:latin typeface="Times New Roman" panose="02020603050405020304" pitchFamily="18" charset="0"/>
                <a:cs typeface="Times New Roman" panose="02020603050405020304" pitchFamily="18" charset="0"/>
              </a:rPr>
              <a:t>- Accessibility considerations throughout development.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3175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BBF1A-16BE-C00E-D415-AD827B1E5DFC}"/>
              </a:ext>
            </a:extLst>
          </p:cNvPr>
          <p:cNvSpPr>
            <a:spLocks noGrp="1"/>
          </p:cNvSpPr>
          <p:nvPr>
            <p:ph type="title"/>
          </p:nvPr>
        </p:nvSpPr>
        <p:spPr>
          <a:xfrm>
            <a:off x="1592825" y="599768"/>
            <a:ext cx="10009239" cy="816077"/>
          </a:xfrm>
        </p:spPr>
        <p:txBody>
          <a:bodyPr>
            <a:noAutofit/>
          </a:bodyPr>
          <a:lstStyle/>
          <a:p>
            <a:r>
              <a:rPr lang="en-IN" sz="4000" dirty="0">
                <a:solidFill>
                  <a:schemeClr val="accent2"/>
                </a:solidFill>
                <a:latin typeface="Times New Roman" panose="02020603050405020304" pitchFamily="18" charset="0"/>
                <a:cs typeface="Times New Roman" panose="02020603050405020304" pitchFamily="18" charset="0"/>
              </a:rPr>
              <a:t>THEORETICAL  IMPACT ASSESSSMENT:</a:t>
            </a:r>
          </a:p>
        </p:txBody>
      </p:sp>
      <p:sp>
        <p:nvSpPr>
          <p:cNvPr id="3" name="Content Placeholder 2">
            <a:extLst>
              <a:ext uri="{FF2B5EF4-FFF2-40B4-BE49-F238E27FC236}">
                <a16:creationId xmlns:a16="http://schemas.microsoft.com/office/drawing/2014/main" id="{3D92EDBD-96C4-A6C5-E180-4A044FE73094}"/>
              </a:ext>
            </a:extLst>
          </p:cNvPr>
          <p:cNvSpPr>
            <a:spLocks noGrp="1"/>
          </p:cNvSpPr>
          <p:nvPr>
            <p:ph idx="1"/>
          </p:nvPr>
        </p:nvSpPr>
        <p:spPr>
          <a:xfrm>
            <a:off x="1229033" y="1712658"/>
            <a:ext cx="10687664" cy="4884787"/>
          </a:xfrm>
        </p:spPr>
        <p:txBody>
          <a:bodyPr>
            <a:normAutofit fontScale="92500" lnSpcReduction="20000"/>
          </a:bodyPr>
          <a:lstStyle/>
          <a:p>
            <a:pPr marL="0" indent="0">
              <a:buNone/>
            </a:pPr>
            <a:r>
              <a:rPr lang="en-US" sz="2600" dirty="0">
                <a:solidFill>
                  <a:schemeClr val="accent1">
                    <a:lumMod val="50000"/>
                  </a:schemeClr>
                </a:solidFill>
                <a:latin typeface="Times New Roman" panose="02020603050405020304" pitchFamily="18" charset="0"/>
                <a:cs typeface="Times New Roman" panose="02020603050405020304" pitchFamily="18" charset="0"/>
              </a:rPr>
              <a:t>1. Educational Impact:</a:t>
            </a:r>
          </a:p>
          <a:p>
            <a:r>
              <a:rPr lang="en-US" sz="2000" dirty="0">
                <a:latin typeface="Times New Roman" panose="02020603050405020304" pitchFamily="18" charset="0"/>
                <a:cs typeface="Times New Roman" panose="02020603050405020304" pitchFamily="18" charset="0"/>
              </a:rPr>
              <a:t>- Knowledge Diffusion Theory: Spread of medical information to underserved populations</a:t>
            </a:r>
          </a:p>
          <a:p>
            <a:r>
              <a:rPr lang="en-US" sz="2000" dirty="0">
                <a:latin typeface="Times New Roman" panose="02020603050405020304" pitchFamily="18" charset="0"/>
                <a:cs typeface="Times New Roman" panose="02020603050405020304" pitchFamily="18" charset="0"/>
              </a:rPr>
              <a:t>- Health Literacy Improvement: Enhanced understanding of medications and conditions</a:t>
            </a:r>
          </a:p>
          <a:p>
            <a:r>
              <a:rPr lang="en-US" sz="2000" dirty="0">
                <a:latin typeface="Times New Roman" panose="02020603050405020304" pitchFamily="18" charset="0"/>
                <a:cs typeface="Times New Roman" panose="02020603050405020304" pitchFamily="18" charset="0"/>
              </a:rPr>
              <a:t>- Preventive Healthcare Promotion: Early symptom recognition and appropriate action.</a:t>
            </a:r>
          </a:p>
          <a:p>
            <a:pPr marL="0" indent="0">
              <a:buNone/>
            </a:pPr>
            <a:r>
              <a:rPr lang="en-US" sz="2600" dirty="0">
                <a:solidFill>
                  <a:schemeClr val="accent1">
                    <a:lumMod val="50000"/>
                  </a:schemeClr>
                </a:solidFill>
                <a:latin typeface="Times New Roman" panose="02020603050405020304" pitchFamily="18" charset="0"/>
                <a:cs typeface="Times New Roman" panose="02020603050405020304" pitchFamily="18" charset="0"/>
              </a:rPr>
              <a:t>2. Social Impact:</a:t>
            </a:r>
          </a:p>
          <a:p>
            <a:r>
              <a:rPr lang="en-US" sz="2200" dirty="0">
                <a:latin typeface="Times New Roman" panose="02020603050405020304" pitchFamily="18" charset="0"/>
                <a:cs typeface="Times New Roman" panose="02020603050405020304" pitchFamily="18" charset="0"/>
              </a:rPr>
              <a:t>- Digital Divide Bridging: Accessible design for various user capabilities</a:t>
            </a:r>
          </a:p>
          <a:p>
            <a:r>
              <a:rPr lang="en-US" sz="2200" dirty="0">
                <a:latin typeface="Times New Roman" panose="02020603050405020304" pitchFamily="18" charset="0"/>
                <a:cs typeface="Times New Roman" panose="02020603050405020304" pitchFamily="18" charset="0"/>
              </a:rPr>
              <a:t>- Community Health Improvement: Collective knowledge sharing and awareness</a:t>
            </a:r>
          </a:p>
          <a:p>
            <a:r>
              <a:rPr lang="en-US" sz="2200" dirty="0">
                <a:latin typeface="Times New Roman" panose="02020603050405020304" pitchFamily="18" charset="0"/>
                <a:cs typeface="Times New Roman" panose="02020603050405020304" pitchFamily="18" charset="0"/>
              </a:rPr>
              <a:t>- Healthcare System Support: Reduced burden on medical professionals for basic queries.</a:t>
            </a:r>
          </a:p>
          <a:p>
            <a:pPr marL="0" indent="0">
              <a:buNone/>
            </a:pPr>
            <a:r>
              <a:rPr lang="en-US" sz="2600" dirty="0">
                <a:solidFill>
                  <a:schemeClr val="accent1">
                    <a:lumMod val="50000"/>
                  </a:schemeClr>
                </a:solidFill>
                <a:latin typeface="Times New Roman" panose="02020603050405020304" pitchFamily="18" charset="0"/>
                <a:cs typeface="Times New Roman" panose="02020603050405020304" pitchFamily="18" charset="0"/>
              </a:rPr>
              <a:t>3. Technological Impact:</a:t>
            </a:r>
          </a:p>
          <a:p>
            <a:r>
              <a:rPr lang="en-US" sz="2200" dirty="0">
                <a:latin typeface="Times New Roman" panose="02020603050405020304" pitchFamily="18" charset="0"/>
                <a:cs typeface="Times New Roman" panose="02020603050405020304" pitchFamily="18" charset="0"/>
              </a:rPr>
              <a:t>- AI in Healthcare Advancement: Demonstration of practical medical AI application</a:t>
            </a:r>
          </a:p>
          <a:p>
            <a:r>
              <a:rPr lang="en-US" sz="2200" dirty="0">
                <a:latin typeface="Times New Roman" panose="02020603050405020304" pitchFamily="18" charset="0"/>
                <a:cs typeface="Times New Roman" panose="02020603050405020304" pitchFamily="18" charset="0"/>
              </a:rPr>
              <a:t>- Open Source Medical Informatics: Contribution to accessible medical technology</a:t>
            </a:r>
          </a:p>
          <a:p>
            <a:r>
              <a:rPr lang="en-US" sz="2200" dirty="0">
                <a:latin typeface="Times New Roman" panose="02020603050405020304" pitchFamily="18" charset="0"/>
                <a:cs typeface="Times New Roman" panose="02020603050405020304" pitchFamily="18" charset="0"/>
              </a:rPr>
              <a:t>- Interoperability Standards: Implementation of healthcare data exchange principles.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4497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930F6-2E6F-68F8-6E60-F9ED68C827A4}"/>
              </a:ext>
            </a:extLst>
          </p:cNvPr>
          <p:cNvSpPr>
            <a:spLocks noGrp="1"/>
          </p:cNvSpPr>
          <p:nvPr>
            <p:ph type="title"/>
          </p:nvPr>
        </p:nvSpPr>
        <p:spPr>
          <a:xfrm>
            <a:off x="1671484" y="1131095"/>
            <a:ext cx="8367866" cy="500447"/>
          </a:xfrm>
        </p:spPr>
        <p:txBody>
          <a:bodyPr>
            <a:noAutofit/>
          </a:bodyPr>
          <a:lstStyle/>
          <a:p>
            <a:r>
              <a:rPr lang="en-US" sz="4000" dirty="0">
                <a:solidFill>
                  <a:schemeClr val="accent2"/>
                </a:solidFill>
                <a:latin typeface="Times New Roman" panose="02020603050405020304" pitchFamily="18" charset="0"/>
                <a:cs typeface="Times New Roman" panose="02020603050405020304" pitchFamily="18" charset="0"/>
              </a:rPr>
              <a:t>CONCLUSION:</a:t>
            </a:r>
            <a:endParaRPr lang="en-IN" sz="4000"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CDD9F6-3EB7-38C2-5C70-1B60E67B648C}"/>
              </a:ext>
            </a:extLst>
          </p:cNvPr>
          <p:cNvSpPr>
            <a:spLocks noGrp="1"/>
          </p:cNvSpPr>
          <p:nvPr>
            <p:ph idx="1"/>
          </p:nvPr>
        </p:nvSpPr>
        <p:spPr>
          <a:xfrm>
            <a:off x="1563330" y="1926507"/>
            <a:ext cx="8476022" cy="3800397"/>
          </a:xfrm>
        </p:spPr>
        <p:txBody>
          <a:bodyPr>
            <a:normAutofit/>
          </a:bodyPr>
          <a:lstStyle/>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Information Processing Model, Medical Decision-Making Model, and User Experience Model</a:t>
            </a:r>
            <a:r>
              <a:rPr lang="en-US" sz="2000" dirty="0">
                <a:latin typeface="Times New Roman" panose="02020603050405020304" pitchFamily="18" charset="0"/>
                <a:cs typeface="Times New Roman" panose="02020603050405020304" pitchFamily="18" charset="0"/>
              </a:rPr>
              <a:t> all describe structured ways of handling input and generating meaningful output. While the first focuses on </a:t>
            </a:r>
            <a:r>
              <a:rPr lang="en-US" sz="2000" b="1" dirty="0">
                <a:latin typeface="Times New Roman" panose="02020603050405020304" pitchFamily="18" charset="0"/>
                <a:cs typeface="Times New Roman" panose="02020603050405020304" pitchFamily="18" charset="0"/>
              </a:rPr>
              <a:t>data-to-response flow</a:t>
            </a:r>
            <a:r>
              <a:rPr lang="en-US" sz="2000" dirty="0">
                <a:latin typeface="Times New Roman" panose="02020603050405020304" pitchFamily="18" charset="0"/>
                <a:cs typeface="Times New Roman" panose="02020603050405020304" pitchFamily="18" charset="0"/>
              </a:rPr>
              <a:t>, the second emphasizes </a:t>
            </a:r>
            <a:r>
              <a:rPr lang="en-US" sz="2000" b="1" dirty="0">
                <a:latin typeface="Times New Roman" panose="02020603050405020304" pitchFamily="18" charset="0"/>
                <a:cs typeface="Times New Roman" panose="02020603050405020304" pitchFamily="18" charset="0"/>
              </a:rPr>
              <a:t>clinical reasoning and risk-based recommendations</a:t>
            </a:r>
            <a:r>
              <a:rPr lang="en-US" sz="2000" dirty="0">
                <a:latin typeface="Times New Roman" panose="02020603050405020304" pitchFamily="18" charset="0"/>
                <a:cs typeface="Times New Roman" panose="02020603050405020304" pitchFamily="18" charset="0"/>
              </a:rPr>
              <a:t>, and the third highlights </a:t>
            </a:r>
            <a:r>
              <a:rPr lang="en-US" sz="2000" b="1" dirty="0">
                <a:latin typeface="Times New Roman" panose="02020603050405020304" pitchFamily="18" charset="0"/>
                <a:cs typeface="Times New Roman" panose="02020603050405020304" pitchFamily="18" charset="0"/>
              </a:rPr>
              <a:t>user-centered interaction and action</a:t>
            </a:r>
            <a:r>
              <a:rPr lang="en-US" sz="2000" dirty="0">
                <a:latin typeface="Times New Roman" panose="02020603050405020304" pitchFamily="18" charset="0"/>
                <a:cs typeface="Times New Roman" panose="02020603050405020304" pitchFamily="18" charset="0"/>
              </a:rPr>
              <a:t>. Despite their domain differences, all three follow a similar logic:</a:t>
            </a:r>
          </a:p>
          <a:p>
            <a:r>
              <a:rPr lang="en-US" sz="2000" b="1" dirty="0">
                <a:latin typeface="Times New Roman" panose="02020603050405020304" pitchFamily="18" charset="0"/>
                <a:cs typeface="Times New Roman" panose="02020603050405020304" pitchFamily="18" charset="0"/>
              </a:rPr>
              <a:t>Input/Need recognition</a:t>
            </a:r>
            <a:r>
              <a:rPr lang="en-US" sz="2000"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Processing/Analysis</a:t>
            </a:r>
            <a:r>
              <a:rPr lang="en-US" sz="2000"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Knowledge application</a:t>
            </a:r>
            <a:r>
              <a:rPr lang="en-US" sz="2000"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Meaningful Output/Action</a:t>
            </a:r>
            <a:r>
              <a:rPr lang="en-US" sz="20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1370465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D2B9B-0217-04C6-9183-485DF9D2E5AB}"/>
              </a:ext>
            </a:extLst>
          </p:cNvPr>
          <p:cNvSpPr>
            <a:spLocks noGrp="1"/>
          </p:cNvSpPr>
          <p:nvPr>
            <p:ph type="title"/>
          </p:nvPr>
        </p:nvSpPr>
        <p:spPr>
          <a:xfrm>
            <a:off x="1435510" y="1919135"/>
            <a:ext cx="9625779" cy="2389239"/>
          </a:xfrm>
        </p:spPr>
        <p:txBody>
          <a:bodyPr>
            <a:noAutofit/>
          </a:bodyPr>
          <a:lstStyle/>
          <a:p>
            <a:pPr algn="ctr"/>
            <a:r>
              <a:rPr lang="en-US" sz="9600" dirty="0">
                <a:solidFill>
                  <a:schemeClr val="accent3"/>
                </a:solidFill>
                <a:latin typeface="Arial Black" panose="020B0A04020102020204" pitchFamily="34" charset="0"/>
                <a:cs typeface="Times New Roman" panose="02020603050405020304" pitchFamily="18" charset="0"/>
              </a:rPr>
              <a:t>THANK YOU</a:t>
            </a:r>
            <a:endParaRPr lang="en-IN" sz="9600" dirty="0">
              <a:solidFill>
                <a:schemeClr val="accent3"/>
              </a:solidFill>
              <a:latin typeface="Arial Black" panose="020B0A04020102020204" pitchFamily="34" charset="0"/>
              <a:cs typeface="Times New Roman" panose="02020603050405020304" pitchFamily="18" charset="0"/>
            </a:endParaRPr>
          </a:p>
        </p:txBody>
      </p:sp>
    </p:spTree>
    <p:extLst>
      <p:ext uri="{BB962C8B-B14F-4D97-AF65-F5344CB8AC3E}">
        <p14:creationId xmlns:p14="http://schemas.microsoft.com/office/powerpoint/2010/main" val="316969189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160</TotalTime>
  <Words>823</Words>
  <Application>Microsoft Office PowerPoint</Application>
  <PresentationFormat>Widescreen</PresentationFormat>
  <Paragraphs>95</Paragraphs>
  <Slides>10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 Black</vt:lpstr>
      <vt:lpstr>Calibri</vt:lpstr>
      <vt:lpstr>Century Gothic</vt:lpstr>
      <vt:lpstr>Times New Roman</vt:lpstr>
      <vt:lpstr>Wingdings 3</vt:lpstr>
      <vt:lpstr>Wisp</vt:lpstr>
      <vt:lpstr>PowerPoint Presentation</vt:lpstr>
      <vt:lpstr>ABSTRACT:</vt:lpstr>
      <vt:lpstr>CONCEPTUAL FRAMEWORK:</vt:lpstr>
      <vt:lpstr>KNOWLEDGE REPRESENTATION:</vt:lpstr>
      <vt:lpstr> THEORETICAL MODELS APPLIED:</vt:lpstr>
      <vt:lpstr>SCIENTIFIC PRINCIPLES:</vt:lpstr>
      <vt:lpstr>RESEARCH METHODOLOGY:</vt:lpstr>
      <vt:lpstr>THEORETICAL  IMPACT ASSESSSMENT: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jhansi chinthaginjala</dc:creator>
  <cp:lastModifiedBy>jhansi chinthaginjala</cp:lastModifiedBy>
  <cp:revision>1</cp:revision>
  <dcterms:created xsi:type="dcterms:W3CDTF">2025-09-05T04:35:26Z</dcterms:created>
  <dcterms:modified xsi:type="dcterms:W3CDTF">2025-09-12T06:49:41Z</dcterms:modified>
</cp:coreProperties>
</file>